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8" r:id="rId3"/>
    <p:sldId id="259" r:id="rId4"/>
    <p:sldId id="257" r:id="rId5"/>
    <p:sldId id="260" r:id="rId6"/>
    <p:sldId id="262" r:id="rId7"/>
    <p:sldId id="261"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Tree>
    <p:extLst>
      <p:ext uri="{BB962C8B-B14F-4D97-AF65-F5344CB8AC3E}">
        <p14:creationId xmlns:p14="http://schemas.microsoft.com/office/powerpoint/2010/main" val="422725983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939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75B89E78-74C9-43C0-9E59-6AFBD22F5E9C}" type="slidenum">
              <a:rPr lang="en-IN" smtClean="0"/>
              <a:t>‹#›</a:t>
            </a:fld>
            <a:endParaRPr lang="en-IN"/>
          </a:p>
        </p:txBody>
      </p:sp>
    </p:spTree>
    <p:extLst>
      <p:ext uri="{BB962C8B-B14F-4D97-AF65-F5344CB8AC3E}">
        <p14:creationId xmlns:p14="http://schemas.microsoft.com/office/powerpoint/2010/main" val="3510337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75B89E78-74C9-43C0-9E59-6AFBD22F5E9C}" type="slidenum">
              <a:rPr lang="en-IN" smtClean="0"/>
              <a:t>‹#›</a:t>
            </a:fld>
            <a:endParaRPr lang="en-IN"/>
          </a:p>
        </p:txBody>
      </p:sp>
    </p:spTree>
    <p:extLst>
      <p:ext uri="{BB962C8B-B14F-4D97-AF65-F5344CB8AC3E}">
        <p14:creationId xmlns:p14="http://schemas.microsoft.com/office/powerpoint/2010/main" val="1674145428"/>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75B89E78-74C9-43C0-9E59-6AFBD22F5E9C}" type="slidenum">
              <a:rPr lang="en-IN" smtClean="0"/>
              <a:t>‹#›</a:t>
            </a:fld>
            <a:endParaRPr lang="en-IN"/>
          </a:p>
        </p:txBody>
      </p:sp>
    </p:spTree>
    <p:extLst>
      <p:ext uri="{BB962C8B-B14F-4D97-AF65-F5344CB8AC3E}">
        <p14:creationId xmlns:p14="http://schemas.microsoft.com/office/powerpoint/2010/main" val="3807854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8813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75B89E78-74C9-43C0-9E59-6AFBD22F5E9C}"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4240762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75B89E78-74C9-43C0-9E59-6AFBD22F5E9C}"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6928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75B89E78-74C9-43C0-9E59-6AFBD22F5E9C}" type="slidenum">
              <a:rPr lang="en-IN" smtClean="0"/>
              <a:t>‹#›</a:t>
            </a:fld>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8016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EA7A59EE-555F-49BC-92FB-0CC10A2D9AA9}" type="datetimeFigureOut">
              <a:rPr lang="en-IN" smtClean="0"/>
              <a:t>26-10-2026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75B89E78-74C9-43C0-9E59-6AFBD22F5E9C}"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811446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EA7A59EE-555F-49BC-92FB-0CC10A2D9AA9}" type="datetimeFigureOut">
              <a:rPr lang="en-IN" smtClean="0"/>
              <a:t>26-10-2026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75B89E78-74C9-43C0-9E59-6AFBD22F5E9C}"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677674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IN"/>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EA7A59EE-555F-49BC-92FB-0CC10A2D9AA9}" type="datetimeFigureOut">
              <a:rPr lang="en-IN" smtClean="0"/>
              <a:t>26-10-2026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75B89E78-74C9-43C0-9E59-6AFBD22F5E9C}"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54155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EA7A59EE-555F-49BC-92FB-0CC10A2D9AA9}" type="datetimeFigureOut">
              <a:rPr lang="en-IN" smtClean="0"/>
              <a:t>26-10-2026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75B89E78-74C9-43C0-9E59-6AFBD22F5E9C}" type="slidenum">
              <a:rPr lang="en-IN" smtClean="0"/>
              <a:t>‹#›</a:t>
            </a:fld>
            <a:endParaRPr lang="en-IN"/>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9156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EA7A59EE-555F-49BC-92FB-0CC10A2D9AA9}" type="datetimeFigureOut">
              <a:rPr lang="en-IN" smtClean="0"/>
              <a:t>26-10-2026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75B89E78-74C9-43C0-9E59-6AFBD22F5E9C}"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253503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EA7A59EE-555F-49BC-92FB-0CC10A2D9AA9}" type="datetimeFigureOut">
              <a:rPr lang="en-IN" smtClean="0"/>
              <a:t>26-10-2026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75B89E78-74C9-43C0-9E59-6AFBD22F5E9C}"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88166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EA7A59EE-555F-49BC-92FB-0CC10A2D9AA9}" type="datetimeFigureOut">
              <a:rPr lang="en-IN" smtClean="0"/>
              <a:t>26-10-2026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75B89E78-74C9-43C0-9E59-6AFBD22F5E9C}"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3623081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EA7A59EE-555F-49BC-92FB-0CC10A2D9AA9}" type="datetimeFigureOut">
              <a:rPr lang="en-IN" smtClean="0"/>
              <a:t>26-10-2026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75B89E78-74C9-43C0-9E59-6AFBD22F5E9C}" type="slidenum">
              <a:rPr lang="en-IN" smtClean="0"/>
              <a:t>‹#›</a:t>
            </a:fld>
            <a:endParaRPr lang="en-IN"/>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609979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EA7A59EE-555F-49BC-92FB-0CC10A2D9AA9}" type="datetimeFigureOut">
              <a:rPr lang="en-IN" smtClean="0"/>
              <a:t>26-10-2026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75B89E78-74C9-43C0-9E59-6AFBD22F5E9C}" type="slidenum">
              <a:rPr lang="en-IN" smtClean="0"/>
              <a:t>‹#›</a:t>
            </a:fld>
            <a:endParaRPr lang="en-IN"/>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72552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146772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952484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26346055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36120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233476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Tree>
    <p:extLst>
      <p:ext uri="{BB962C8B-B14F-4D97-AF65-F5344CB8AC3E}">
        <p14:creationId xmlns:p14="http://schemas.microsoft.com/office/powerpoint/2010/main" val="18924087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Tree>
    <p:extLst>
      <p:ext uri="{BB962C8B-B14F-4D97-AF65-F5344CB8AC3E}">
        <p14:creationId xmlns:p14="http://schemas.microsoft.com/office/powerpoint/2010/main" val="21082699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74253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A7A59EE-555F-49BC-92FB-0CC10A2D9AA9}" type="datetimeFigureOut">
              <a:rPr lang="en-IN" smtClean="0"/>
              <a:t>26-10-2026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75B89E78-74C9-43C0-9E59-6AFBD22F5E9C}" type="slidenum">
              <a:rPr lang="en-IN" smtClean="0"/>
              <a:t>‹#›</a:t>
            </a:fld>
            <a:endParaRPr lang="en-IN"/>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1892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otGrid">
          <a:fgClr>
            <a:schemeClr val="accent3">
              <a:lumMod val="50000"/>
            </a:schemeClr>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IN"/>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EA7A59EE-555F-49BC-92FB-0CC10A2D9AA9}" type="datetimeFigureOut">
              <a:rPr lang="en-IN" smtClean="0"/>
              <a:t>26-10-2026</a:t>
            </a:fld>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75B89E78-74C9-43C0-9E59-6AFBD22F5E9C}" type="slidenum">
              <a:rPr lang="en-IN" smtClean="0"/>
              <a:t>‹#›</a:t>
            </a:fld>
            <a:endParaRPr lang="en-IN"/>
          </a:p>
        </p:txBody>
      </p:sp>
    </p:spTree>
    <p:extLst>
      <p:ext uri="{BB962C8B-B14F-4D97-AF65-F5344CB8AC3E}">
        <p14:creationId xmlns:p14="http://schemas.microsoft.com/office/powerpoint/2010/main" val="254317559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 id="2147483716"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6.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FEA11-143E-E167-DCDA-859B742CF1FD}"/>
              </a:ext>
            </a:extLst>
          </p:cNvPr>
          <p:cNvSpPr>
            <a:spLocks noGrp="1"/>
          </p:cNvSpPr>
          <p:nvPr>
            <p:ph type="ctrTitle"/>
          </p:nvPr>
        </p:nvSpPr>
        <p:spPr>
          <a:xfrm>
            <a:off x="5397910" y="1820486"/>
            <a:ext cx="5697949" cy="2762187"/>
          </a:xfrm>
        </p:spPr>
        <p:txBody>
          <a:bodyPr>
            <a:normAutofit/>
          </a:bodyPr>
          <a:lstStyle/>
          <a:p>
            <a:pPr algn="l"/>
            <a:r>
              <a:rPr lang="en-US" dirty="0"/>
              <a:t>IBM HR Analytics💼</a:t>
            </a:r>
            <a:br>
              <a:rPr lang="en-US" dirty="0"/>
            </a:br>
            <a:r>
              <a:rPr lang="en-US" dirty="0"/>
              <a:t>Employee Attrition &amp; Performance</a:t>
            </a:r>
            <a:endParaRPr lang="en-IN" dirty="0"/>
          </a:p>
        </p:txBody>
      </p:sp>
      <p:sp>
        <p:nvSpPr>
          <p:cNvPr id="3" name="Subtitle 2">
            <a:extLst>
              <a:ext uri="{FF2B5EF4-FFF2-40B4-BE49-F238E27FC236}">
                <a16:creationId xmlns:a16="http://schemas.microsoft.com/office/drawing/2014/main" id="{FD1A3688-2BC9-2237-7863-3F89E87D85CF}"/>
              </a:ext>
            </a:extLst>
          </p:cNvPr>
          <p:cNvSpPr>
            <a:spLocks noGrp="1"/>
          </p:cNvSpPr>
          <p:nvPr>
            <p:ph type="subTitle" idx="1"/>
          </p:nvPr>
        </p:nvSpPr>
        <p:spPr>
          <a:xfrm>
            <a:off x="5397910" y="4582673"/>
            <a:ext cx="3830874" cy="1496616"/>
          </a:xfrm>
        </p:spPr>
        <p:txBody>
          <a:bodyPr/>
          <a:lstStyle/>
          <a:p>
            <a:pPr algn="l"/>
            <a:r>
              <a:rPr lang="en-US" dirty="0"/>
              <a:t>Kalpit Kishore</a:t>
            </a:r>
            <a:endParaRPr lang="en-IN" dirty="0"/>
          </a:p>
        </p:txBody>
      </p:sp>
    </p:spTree>
    <p:extLst>
      <p:ext uri="{BB962C8B-B14F-4D97-AF65-F5344CB8AC3E}">
        <p14:creationId xmlns:p14="http://schemas.microsoft.com/office/powerpoint/2010/main" val="11720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85F22-83B5-1C9A-0C20-64A4C26D0DFB}"/>
              </a:ext>
            </a:extLst>
          </p:cNvPr>
          <p:cNvSpPr>
            <a:spLocks noGrp="1"/>
          </p:cNvSpPr>
          <p:nvPr>
            <p:ph type="title"/>
          </p:nvPr>
        </p:nvSpPr>
        <p:spPr>
          <a:xfrm>
            <a:off x="429416" y="704236"/>
            <a:ext cx="9942409" cy="876193"/>
          </a:xfrm>
        </p:spPr>
        <p:txBody>
          <a:bodyPr>
            <a:normAutofit/>
          </a:bodyPr>
          <a:lstStyle/>
          <a:p>
            <a:r>
              <a:rPr lang="en-US" sz="3600" dirty="0">
                <a:solidFill>
                  <a:srgbClr val="FFC000"/>
                </a:solidFill>
              </a:rPr>
              <a:t>Business Understanding &amp; Overview</a:t>
            </a:r>
            <a:endParaRPr lang="en-IN" sz="3600" dirty="0">
              <a:solidFill>
                <a:srgbClr val="FFC000"/>
              </a:solidFill>
            </a:endParaRPr>
          </a:p>
        </p:txBody>
      </p:sp>
      <p:sp>
        <p:nvSpPr>
          <p:cNvPr id="3" name="Content Placeholder 2">
            <a:extLst>
              <a:ext uri="{FF2B5EF4-FFF2-40B4-BE49-F238E27FC236}">
                <a16:creationId xmlns:a16="http://schemas.microsoft.com/office/drawing/2014/main" id="{7FBDEFD8-3C04-0083-4B2F-8399C04C5B56}"/>
              </a:ext>
            </a:extLst>
          </p:cNvPr>
          <p:cNvSpPr>
            <a:spLocks noGrp="1"/>
          </p:cNvSpPr>
          <p:nvPr>
            <p:ph idx="1"/>
          </p:nvPr>
        </p:nvSpPr>
        <p:spPr>
          <a:xfrm>
            <a:off x="429416" y="2005781"/>
            <a:ext cx="10828520" cy="3854246"/>
          </a:xfrm>
        </p:spPr>
        <p:txBody>
          <a:bodyPr>
            <a:normAutofit/>
          </a:bodyPr>
          <a:lstStyle/>
          <a:p>
            <a:r>
              <a:rPr lang="en-IN" sz="2400" dirty="0"/>
              <a:t>Employee attrition creates a significant operational and financial burden by draining productivity, institutional knowledge, and team morale. This overview examines the root causes of employee turnover—including excessive overtime, early-career flight risks, compensation gaps, and professional stagnation. By uncovering these patterns through data analysis, our goal is to help leadership shift from reactive exits to proactive retention strategies that safeguard workforce stability and drive long-term business success.</a:t>
            </a:r>
          </a:p>
        </p:txBody>
      </p:sp>
    </p:spTree>
    <p:extLst>
      <p:ext uri="{BB962C8B-B14F-4D97-AF65-F5344CB8AC3E}">
        <p14:creationId xmlns:p14="http://schemas.microsoft.com/office/powerpoint/2010/main" val="1581763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0528C-836B-795D-03E5-70CCA4794F8D}"/>
              </a:ext>
            </a:extLst>
          </p:cNvPr>
          <p:cNvSpPr>
            <a:spLocks noGrp="1"/>
          </p:cNvSpPr>
          <p:nvPr>
            <p:ph type="title"/>
          </p:nvPr>
        </p:nvSpPr>
        <p:spPr/>
        <p:txBody>
          <a:bodyPr/>
          <a:lstStyle/>
          <a:p>
            <a:r>
              <a:rPr lang="en-US" dirty="0"/>
              <a:t>Kalpit Kishore</a:t>
            </a:r>
            <a:endParaRPr lang="en-IN" dirty="0"/>
          </a:p>
        </p:txBody>
      </p:sp>
      <p:sp>
        <p:nvSpPr>
          <p:cNvPr id="3" name="Content Placeholder 2">
            <a:extLst>
              <a:ext uri="{FF2B5EF4-FFF2-40B4-BE49-F238E27FC236}">
                <a16:creationId xmlns:a16="http://schemas.microsoft.com/office/drawing/2014/main" id="{5F9EACE2-E70E-2CA5-3F10-F1CC8F37930F}"/>
              </a:ext>
            </a:extLst>
          </p:cNvPr>
          <p:cNvSpPr>
            <a:spLocks noGrp="1"/>
          </p:cNvSpPr>
          <p:nvPr>
            <p:ph sz="quarter" idx="13"/>
          </p:nvPr>
        </p:nvSpPr>
        <p:spPr/>
        <p:txBody>
          <a:bodyPr/>
          <a:lstStyle/>
          <a:p>
            <a:pPr algn="ctr"/>
            <a:r>
              <a:rPr lang="en-US" dirty="0"/>
              <a:t>Understanding the data</a:t>
            </a:r>
            <a:endParaRPr lang="en-IN" dirty="0"/>
          </a:p>
        </p:txBody>
      </p:sp>
    </p:spTree>
    <p:extLst>
      <p:ext uri="{BB962C8B-B14F-4D97-AF65-F5344CB8AC3E}">
        <p14:creationId xmlns:p14="http://schemas.microsoft.com/office/powerpoint/2010/main" val="4253797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FEB678-FEBC-D39F-A434-F8A7494166C6}"/>
              </a:ext>
            </a:extLst>
          </p:cNvPr>
          <p:cNvSpPr txBox="1"/>
          <p:nvPr/>
        </p:nvSpPr>
        <p:spPr>
          <a:xfrm>
            <a:off x="314632" y="373626"/>
            <a:ext cx="5122607" cy="769441"/>
          </a:xfrm>
          <a:prstGeom prst="rect">
            <a:avLst/>
          </a:prstGeom>
          <a:noFill/>
        </p:spPr>
        <p:txBody>
          <a:bodyPr wrap="square" rtlCol="0">
            <a:spAutoFit/>
          </a:bodyPr>
          <a:lstStyle/>
          <a:p>
            <a:r>
              <a:rPr lang="en-US" sz="4400" b="1" dirty="0">
                <a:solidFill>
                  <a:srgbClr val="FFC000"/>
                </a:solidFill>
              </a:rPr>
              <a:t>Target Variable</a:t>
            </a:r>
            <a:endParaRPr lang="en-IN" sz="4400" b="1" dirty="0">
              <a:solidFill>
                <a:srgbClr val="FFC000"/>
              </a:solidFill>
            </a:endParaRPr>
          </a:p>
        </p:txBody>
      </p:sp>
      <p:pic>
        <p:nvPicPr>
          <p:cNvPr id="4" name="Picture 3">
            <a:extLst>
              <a:ext uri="{FF2B5EF4-FFF2-40B4-BE49-F238E27FC236}">
                <a16:creationId xmlns:a16="http://schemas.microsoft.com/office/drawing/2014/main" id="{EB8A6BBE-9C1F-880F-6674-48CF5AB8CE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843902"/>
            <a:ext cx="5679541" cy="4094782"/>
          </a:xfrm>
          <a:prstGeom prst="rect">
            <a:avLst/>
          </a:prstGeom>
        </p:spPr>
      </p:pic>
      <p:sp>
        <p:nvSpPr>
          <p:cNvPr id="6" name="TextBox 5">
            <a:extLst>
              <a:ext uri="{FF2B5EF4-FFF2-40B4-BE49-F238E27FC236}">
                <a16:creationId xmlns:a16="http://schemas.microsoft.com/office/drawing/2014/main" id="{B38999EE-316D-8287-91D0-49DFDEAF2378}"/>
              </a:ext>
            </a:extLst>
          </p:cNvPr>
          <p:cNvSpPr txBox="1"/>
          <p:nvPr/>
        </p:nvSpPr>
        <p:spPr>
          <a:xfrm>
            <a:off x="314632" y="1204622"/>
            <a:ext cx="4886632" cy="584775"/>
          </a:xfrm>
          <a:prstGeom prst="rect">
            <a:avLst/>
          </a:prstGeom>
          <a:noFill/>
        </p:spPr>
        <p:txBody>
          <a:bodyPr wrap="square" rtlCol="0">
            <a:spAutoFit/>
          </a:bodyPr>
          <a:lstStyle/>
          <a:p>
            <a:r>
              <a:rPr lang="en-US" sz="3200" dirty="0">
                <a:solidFill>
                  <a:schemeClr val="accent2"/>
                </a:solidFill>
              </a:rPr>
              <a:t>Findings</a:t>
            </a:r>
            <a:endParaRPr lang="en-IN" sz="3200" dirty="0">
              <a:solidFill>
                <a:schemeClr val="accent2"/>
              </a:solidFill>
            </a:endParaRPr>
          </a:p>
        </p:txBody>
      </p:sp>
      <p:sp>
        <p:nvSpPr>
          <p:cNvPr id="7" name="TextBox 6">
            <a:extLst>
              <a:ext uri="{FF2B5EF4-FFF2-40B4-BE49-F238E27FC236}">
                <a16:creationId xmlns:a16="http://schemas.microsoft.com/office/drawing/2014/main" id="{C4591905-B0F6-A5BD-4615-0CA629EDB630}"/>
              </a:ext>
            </a:extLst>
          </p:cNvPr>
          <p:cNvSpPr txBox="1"/>
          <p:nvPr/>
        </p:nvSpPr>
        <p:spPr>
          <a:xfrm>
            <a:off x="416459" y="1946787"/>
            <a:ext cx="5443567" cy="4093428"/>
          </a:xfrm>
          <a:prstGeom prst="rect">
            <a:avLst/>
          </a:prstGeom>
          <a:noFill/>
        </p:spPr>
        <p:txBody>
          <a:bodyPr wrap="square" rtlCol="0">
            <a:spAutoFit/>
          </a:bodyPr>
          <a:lstStyle/>
          <a:p>
            <a:pPr marL="285750" indent="-285750">
              <a:buFont typeface="Arial" panose="020B0604020202020204" pitchFamily="34" charset="0"/>
              <a:buChar char="•"/>
            </a:pPr>
            <a:r>
              <a:rPr lang="en-IN" sz="2000" b="1" dirty="0"/>
              <a:t>Overall Workforce Retention:</a:t>
            </a:r>
            <a:r>
              <a:rPr lang="en-IN" sz="2000" dirty="0"/>
              <a:t> The vast majority of employees stayed with the company, with </a:t>
            </a:r>
            <a:r>
              <a:rPr lang="en-IN" sz="2000" b="1" dirty="0"/>
              <a:t>1,264 employees (83.99%)</a:t>
            </a:r>
            <a:r>
              <a:rPr lang="en-IN" sz="2000" dirty="0"/>
              <a:t> recorded as "No" for attrition.</a:t>
            </a:r>
          </a:p>
          <a:p>
            <a:endParaRPr lang="en-IN" sz="2000" dirty="0"/>
          </a:p>
          <a:p>
            <a:pPr marL="285750" indent="-285750">
              <a:buFont typeface="Arial" panose="020B0604020202020204" pitchFamily="34" charset="0"/>
              <a:buChar char="•"/>
            </a:pPr>
            <a:r>
              <a:rPr lang="en-IN" sz="2000" b="1" dirty="0"/>
              <a:t>Overall Attrition Volume:</a:t>
            </a:r>
            <a:r>
              <a:rPr lang="en-IN" sz="2000" dirty="0"/>
              <a:t> A total of </a:t>
            </a:r>
            <a:r>
              <a:rPr lang="en-IN" sz="2000" b="1" dirty="0"/>
              <a:t>241 employees (16.01%)</a:t>
            </a:r>
            <a:r>
              <a:rPr lang="en-IN" sz="2000" dirty="0"/>
              <a:t> left the organization ("Yes")</a:t>
            </a:r>
          </a:p>
          <a:p>
            <a:endParaRPr lang="en-IN" sz="2000" dirty="0"/>
          </a:p>
          <a:p>
            <a:pPr marL="285750" indent="-285750">
              <a:buFont typeface="Arial" panose="020B0604020202020204" pitchFamily="34" charset="0"/>
              <a:buChar char="•"/>
            </a:pPr>
            <a:r>
              <a:rPr lang="en-IN" sz="2000" b="1" dirty="0"/>
              <a:t>Severe Class Imbalance:</a:t>
            </a:r>
            <a:r>
              <a:rPr lang="en-IN" sz="2000" dirty="0"/>
              <a:t> The dataset exhibits a significant </a:t>
            </a:r>
            <a:r>
              <a:rPr lang="en-IN" sz="2000" b="1" dirty="0"/>
              <a:t>5:1 class imbalance</a:t>
            </a:r>
            <a:r>
              <a:rPr lang="en-IN" sz="2000" dirty="0"/>
              <a:t> between retained employees and those who left.</a:t>
            </a:r>
          </a:p>
        </p:txBody>
      </p:sp>
    </p:spTree>
    <p:extLst>
      <p:ext uri="{BB962C8B-B14F-4D97-AF65-F5344CB8AC3E}">
        <p14:creationId xmlns:p14="http://schemas.microsoft.com/office/powerpoint/2010/main" val="1385848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E8E9AF-ABCD-04B5-F2DE-75B773C63AB7}"/>
              </a:ext>
            </a:extLst>
          </p:cNvPr>
          <p:cNvSpPr txBox="1"/>
          <p:nvPr/>
        </p:nvSpPr>
        <p:spPr>
          <a:xfrm>
            <a:off x="186812" y="157316"/>
            <a:ext cx="5122607" cy="707886"/>
          </a:xfrm>
          <a:prstGeom prst="rect">
            <a:avLst/>
          </a:prstGeom>
          <a:noFill/>
        </p:spPr>
        <p:txBody>
          <a:bodyPr wrap="square" rtlCol="0">
            <a:spAutoFit/>
          </a:bodyPr>
          <a:lstStyle/>
          <a:p>
            <a:r>
              <a:rPr lang="en-US" sz="4000" b="1" dirty="0">
                <a:solidFill>
                  <a:srgbClr val="FFC000"/>
                </a:solidFill>
              </a:rPr>
              <a:t>Missing Data</a:t>
            </a:r>
          </a:p>
        </p:txBody>
      </p:sp>
      <p:pic>
        <p:nvPicPr>
          <p:cNvPr id="5" name="Picture 4">
            <a:extLst>
              <a:ext uri="{FF2B5EF4-FFF2-40B4-BE49-F238E27FC236}">
                <a16:creationId xmlns:a16="http://schemas.microsoft.com/office/drawing/2014/main" id="{679753E1-D17A-3A91-BEA2-95A838D6F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3444" y="603592"/>
            <a:ext cx="6784261" cy="3575118"/>
          </a:xfrm>
          <a:prstGeom prst="rect">
            <a:avLst/>
          </a:prstGeom>
        </p:spPr>
      </p:pic>
      <p:sp>
        <p:nvSpPr>
          <p:cNvPr id="7" name="TextBox 6">
            <a:extLst>
              <a:ext uri="{FF2B5EF4-FFF2-40B4-BE49-F238E27FC236}">
                <a16:creationId xmlns:a16="http://schemas.microsoft.com/office/drawing/2014/main" id="{A7AB90A6-AA11-D66C-F8B2-BF9E6007F736}"/>
              </a:ext>
            </a:extLst>
          </p:cNvPr>
          <p:cNvSpPr txBox="1"/>
          <p:nvPr/>
        </p:nvSpPr>
        <p:spPr>
          <a:xfrm>
            <a:off x="186812" y="865202"/>
            <a:ext cx="2310581" cy="584775"/>
          </a:xfrm>
          <a:prstGeom prst="rect">
            <a:avLst/>
          </a:prstGeom>
          <a:noFill/>
        </p:spPr>
        <p:txBody>
          <a:bodyPr wrap="square" rtlCol="0">
            <a:spAutoFit/>
          </a:bodyPr>
          <a:lstStyle/>
          <a:p>
            <a:r>
              <a:rPr lang="en-US" sz="3200" dirty="0">
                <a:solidFill>
                  <a:schemeClr val="accent2"/>
                </a:solidFill>
              </a:rPr>
              <a:t>Findings</a:t>
            </a:r>
            <a:endParaRPr lang="en-IN" sz="3200" dirty="0">
              <a:solidFill>
                <a:schemeClr val="accent2"/>
              </a:solidFill>
            </a:endParaRPr>
          </a:p>
        </p:txBody>
      </p:sp>
      <p:sp>
        <p:nvSpPr>
          <p:cNvPr id="8" name="TextBox 7">
            <a:extLst>
              <a:ext uri="{FF2B5EF4-FFF2-40B4-BE49-F238E27FC236}">
                <a16:creationId xmlns:a16="http://schemas.microsoft.com/office/drawing/2014/main" id="{F76A3681-D17E-1B32-B54C-CDB3E43052F9}"/>
              </a:ext>
            </a:extLst>
          </p:cNvPr>
          <p:cNvSpPr txBox="1"/>
          <p:nvPr/>
        </p:nvSpPr>
        <p:spPr>
          <a:xfrm>
            <a:off x="186812" y="1573088"/>
            <a:ext cx="4958130" cy="2862322"/>
          </a:xfrm>
          <a:prstGeom prst="rect">
            <a:avLst/>
          </a:prstGeom>
          <a:noFill/>
        </p:spPr>
        <p:txBody>
          <a:bodyPr wrap="square" rtlCol="0">
            <a:spAutoFit/>
          </a:bodyPr>
          <a:lstStyle/>
          <a:p>
            <a:pPr marL="285750" indent="-285750">
              <a:buFont typeface="Arial" panose="020B0604020202020204" pitchFamily="34" charset="0"/>
              <a:buChar char="•"/>
            </a:pPr>
            <a:r>
              <a:rPr lang="en-IN" sz="2000" b="1" dirty="0"/>
              <a:t>Overall Low Missingness:</a:t>
            </a:r>
            <a:r>
              <a:rPr lang="en-IN" sz="2000" dirty="0"/>
              <a:t> The vast majority of columns have </a:t>
            </a:r>
            <a:r>
              <a:rPr lang="en-IN" sz="2000" b="1" dirty="0"/>
              <a:t>0.0% missing values</a:t>
            </a:r>
            <a:r>
              <a:rPr lang="en-IN" sz="2000" dirty="0"/>
              <a:t>, indicating a remarkably complete dataset overall.</a:t>
            </a:r>
          </a:p>
          <a:p>
            <a:pPr marL="285750" indent="-285750">
              <a:buFont typeface="Arial" panose="020B0604020202020204" pitchFamily="34" charset="0"/>
              <a:buChar char="•"/>
            </a:pPr>
            <a:r>
              <a:rPr lang="en-IN" sz="2000" b="1" dirty="0"/>
              <a:t>Minimal Missing Percentages:</a:t>
            </a:r>
            <a:r>
              <a:rPr lang="en-IN" sz="2000" dirty="0"/>
              <a:t> For the few columns that do have missing data, the percentage of missing values is extremely low—ranging between </a:t>
            </a:r>
            <a:r>
              <a:rPr lang="en-IN" sz="2000" b="1" dirty="0"/>
              <a:t>0.25% and 1.75%</a:t>
            </a:r>
            <a:r>
              <a:rPr lang="en-IN" sz="2000" dirty="0"/>
              <a:t>. </a:t>
            </a:r>
          </a:p>
        </p:txBody>
      </p:sp>
      <p:sp>
        <p:nvSpPr>
          <p:cNvPr id="9" name="TextBox 8">
            <a:extLst>
              <a:ext uri="{FF2B5EF4-FFF2-40B4-BE49-F238E27FC236}">
                <a16:creationId xmlns:a16="http://schemas.microsoft.com/office/drawing/2014/main" id="{AA73992D-4A9C-D630-6C73-891D174A98FE}"/>
              </a:ext>
            </a:extLst>
          </p:cNvPr>
          <p:cNvSpPr txBox="1"/>
          <p:nvPr/>
        </p:nvSpPr>
        <p:spPr>
          <a:xfrm>
            <a:off x="186812" y="4315416"/>
            <a:ext cx="11818376" cy="1938992"/>
          </a:xfrm>
          <a:prstGeom prst="rect">
            <a:avLst/>
          </a:prstGeom>
          <a:noFill/>
        </p:spPr>
        <p:txBody>
          <a:bodyPr wrap="square" rtlCol="0">
            <a:spAutoFit/>
          </a:bodyPr>
          <a:lstStyle/>
          <a:p>
            <a:pPr marL="285750" indent="-285750">
              <a:buFont typeface="Arial" panose="020B0604020202020204" pitchFamily="34" charset="0"/>
              <a:buChar char="•"/>
            </a:pPr>
            <a:r>
              <a:rPr lang="en-IN" sz="2000" b="1" dirty="0"/>
              <a:t>Most Impacted Features:</a:t>
            </a:r>
            <a:r>
              <a:rPr lang="en-IN" sz="2000" dirty="0"/>
              <a:t> </a:t>
            </a:r>
            <a:r>
              <a:rPr lang="en-IN" sz="2000" b="1" dirty="0"/>
              <a:t>MonthlyIncome</a:t>
            </a:r>
            <a:r>
              <a:rPr lang="en-IN" sz="2000" dirty="0"/>
              <a:t> has the highest percentage of missing values at roughly </a:t>
            </a:r>
            <a:r>
              <a:rPr lang="en-IN" sz="2000" b="1" dirty="0"/>
              <a:t>1.73%</a:t>
            </a:r>
            <a:r>
              <a:rPr lang="en-IN" sz="2000" dirty="0"/>
              <a:t>, followed by </a:t>
            </a:r>
            <a:r>
              <a:rPr lang="en-IN" sz="2000" b="1" dirty="0"/>
              <a:t>JobRole</a:t>
            </a:r>
            <a:r>
              <a:rPr lang="en-IN" sz="2000" dirty="0"/>
              <a:t> at approximately </a:t>
            </a:r>
            <a:r>
              <a:rPr lang="en-IN" sz="2000" b="1" dirty="0"/>
              <a:t>1.2%</a:t>
            </a:r>
            <a:r>
              <a:rPr lang="en-IN" sz="2000" dirty="0"/>
              <a:t>, and </a:t>
            </a:r>
            <a:r>
              <a:rPr lang="en-IN" sz="2000" b="1" dirty="0"/>
              <a:t>DistanceFromHome</a:t>
            </a:r>
            <a:r>
              <a:rPr lang="en-IN" sz="2000" dirty="0"/>
              <a:t> at </a:t>
            </a:r>
            <a:r>
              <a:rPr lang="en-IN" sz="2000" b="1" dirty="0"/>
              <a:t>1.0%</a:t>
            </a:r>
            <a:r>
              <a:rPr lang="en-IN" sz="2000" dirty="0"/>
              <a:t>. Other minor gaps appear in features like OverTime, EnvironmentSatisfaction, and MaritalStatus.</a:t>
            </a:r>
          </a:p>
          <a:p>
            <a:pPr marL="285750" indent="-285750">
              <a:buFont typeface="Arial" panose="020B0604020202020204" pitchFamily="34" charset="0"/>
              <a:buChar char="•"/>
            </a:pPr>
            <a:r>
              <a:rPr lang="en-IN" sz="2000" b="1" dirty="0"/>
              <a:t>Portfolio Action:</a:t>
            </a:r>
            <a:r>
              <a:rPr lang="en-IN" sz="2000" dirty="0"/>
              <a:t> Because missingness is very sparse (under 2%), these columns can easily be handled via standard imputation (e.g., median/mode) or by safely dropping the few missing rows without risking significant data loss or bias.</a:t>
            </a:r>
          </a:p>
        </p:txBody>
      </p:sp>
    </p:spTree>
    <p:extLst>
      <p:ext uri="{BB962C8B-B14F-4D97-AF65-F5344CB8AC3E}">
        <p14:creationId xmlns:p14="http://schemas.microsoft.com/office/powerpoint/2010/main" val="977596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7BEFF-3253-CAAC-6204-E78FCCA1FC73}"/>
              </a:ext>
            </a:extLst>
          </p:cNvPr>
          <p:cNvSpPr>
            <a:spLocks noGrp="1"/>
          </p:cNvSpPr>
          <p:nvPr>
            <p:ph type="title"/>
          </p:nvPr>
        </p:nvSpPr>
        <p:spPr/>
        <p:txBody>
          <a:bodyPr/>
          <a:lstStyle/>
          <a:p>
            <a:r>
              <a:rPr lang="en-US" dirty="0"/>
              <a:t>Kalpit Kishore</a:t>
            </a:r>
            <a:endParaRPr lang="en-IN" dirty="0"/>
          </a:p>
        </p:txBody>
      </p:sp>
      <p:sp>
        <p:nvSpPr>
          <p:cNvPr id="3" name="Content Placeholder 2">
            <a:extLst>
              <a:ext uri="{FF2B5EF4-FFF2-40B4-BE49-F238E27FC236}">
                <a16:creationId xmlns:a16="http://schemas.microsoft.com/office/drawing/2014/main" id="{83C7EEDD-1C84-C08C-709A-5749A1010909}"/>
              </a:ext>
            </a:extLst>
          </p:cNvPr>
          <p:cNvSpPr>
            <a:spLocks noGrp="1"/>
          </p:cNvSpPr>
          <p:nvPr>
            <p:ph sz="quarter" idx="13"/>
          </p:nvPr>
        </p:nvSpPr>
        <p:spPr/>
        <p:txBody>
          <a:bodyPr/>
          <a:lstStyle/>
          <a:p>
            <a:pPr algn="ctr"/>
            <a:r>
              <a:rPr lang="en-US" dirty="0"/>
              <a:t>Categorical Analysis</a:t>
            </a:r>
            <a:endParaRPr lang="en-IN" dirty="0"/>
          </a:p>
        </p:txBody>
      </p:sp>
    </p:spTree>
    <p:extLst>
      <p:ext uri="{BB962C8B-B14F-4D97-AF65-F5344CB8AC3E}">
        <p14:creationId xmlns:p14="http://schemas.microsoft.com/office/powerpoint/2010/main" val="309672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A4FA29-6E3A-6EA7-505C-23EA1570EE7A}"/>
              </a:ext>
            </a:extLst>
          </p:cNvPr>
          <p:cNvSpPr txBox="1"/>
          <p:nvPr/>
        </p:nvSpPr>
        <p:spPr>
          <a:xfrm>
            <a:off x="127819" y="97195"/>
            <a:ext cx="4464684" cy="646331"/>
          </a:xfrm>
          <a:prstGeom prst="rect">
            <a:avLst/>
          </a:prstGeom>
          <a:noFill/>
        </p:spPr>
        <p:txBody>
          <a:bodyPr wrap="none" rtlCol="0">
            <a:spAutoFit/>
          </a:bodyPr>
          <a:lstStyle/>
          <a:p>
            <a:r>
              <a:rPr lang="en-US" sz="3600" b="1" dirty="0">
                <a:solidFill>
                  <a:srgbClr val="FFC000"/>
                </a:solidFill>
              </a:rPr>
              <a:t>Univariate Analysis</a:t>
            </a:r>
            <a:endParaRPr lang="en-IN" sz="3600" b="1" dirty="0">
              <a:solidFill>
                <a:srgbClr val="FFC000"/>
              </a:solidFill>
            </a:endParaRPr>
          </a:p>
        </p:txBody>
      </p:sp>
      <p:pic>
        <p:nvPicPr>
          <p:cNvPr id="4" name="Picture 3">
            <a:extLst>
              <a:ext uri="{FF2B5EF4-FFF2-40B4-BE49-F238E27FC236}">
                <a16:creationId xmlns:a16="http://schemas.microsoft.com/office/drawing/2014/main" id="{D0A876D2-B60B-1B8C-2FC5-E9007CD75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381" y="798026"/>
            <a:ext cx="3475474" cy="2495212"/>
          </a:xfrm>
          <a:prstGeom prst="rect">
            <a:avLst/>
          </a:prstGeom>
        </p:spPr>
      </p:pic>
      <p:pic>
        <p:nvPicPr>
          <p:cNvPr id="6" name="Picture 5">
            <a:extLst>
              <a:ext uri="{FF2B5EF4-FFF2-40B4-BE49-F238E27FC236}">
                <a16:creationId xmlns:a16="http://schemas.microsoft.com/office/drawing/2014/main" id="{880B7B51-B6F3-6CB0-8DB2-80A1E3CB1D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6418" y="798026"/>
            <a:ext cx="3608011" cy="2630974"/>
          </a:xfrm>
          <a:prstGeom prst="rect">
            <a:avLst/>
          </a:prstGeom>
        </p:spPr>
      </p:pic>
      <p:pic>
        <p:nvPicPr>
          <p:cNvPr id="8" name="Picture 7">
            <a:extLst>
              <a:ext uri="{FF2B5EF4-FFF2-40B4-BE49-F238E27FC236}">
                <a16:creationId xmlns:a16="http://schemas.microsoft.com/office/drawing/2014/main" id="{AEB8C975-E3CF-BD28-1BD4-ADCFCC8D9F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86244" y="798026"/>
            <a:ext cx="4397577" cy="2630975"/>
          </a:xfrm>
          <a:prstGeom prst="rect">
            <a:avLst/>
          </a:prstGeom>
        </p:spPr>
      </p:pic>
      <p:pic>
        <p:nvPicPr>
          <p:cNvPr id="10" name="Picture 9">
            <a:extLst>
              <a:ext uri="{FF2B5EF4-FFF2-40B4-BE49-F238E27FC236}">
                <a16:creationId xmlns:a16="http://schemas.microsoft.com/office/drawing/2014/main" id="{322A962B-ADFC-3FEA-CBEB-F2E2C34F11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3334" y="3548993"/>
            <a:ext cx="3608011" cy="2510981"/>
          </a:xfrm>
          <a:prstGeom prst="rect">
            <a:avLst/>
          </a:prstGeom>
        </p:spPr>
      </p:pic>
      <p:pic>
        <p:nvPicPr>
          <p:cNvPr id="12" name="Picture 11">
            <a:extLst>
              <a:ext uri="{FF2B5EF4-FFF2-40B4-BE49-F238E27FC236}">
                <a16:creationId xmlns:a16="http://schemas.microsoft.com/office/drawing/2014/main" id="{6A112E93-0A3A-430C-3FD4-78E428E239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75810" y="3509587"/>
            <a:ext cx="3608011" cy="2550387"/>
          </a:xfrm>
          <a:prstGeom prst="rect">
            <a:avLst/>
          </a:prstGeom>
        </p:spPr>
      </p:pic>
      <p:sp>
        <p:nvSpPr>
          <p:cNvPr id="13" name="TextBox 12">
            <a:extLst>
              <a:ext uri="{FF2B5EF4-FFF2-40B4-BE49-F238E27FC236}">
                <a16:creationId xmlns:a16="http://schemas.microsoft.com/office/drawing/2014/main" id="{2C083437-9320-ABB2-31AE-8F99F141917F}"/>
              </a:ext>
            </a:extLst>
          </p:cNvPr>
          <p:cNvSpPr txBox="1"/>
          <p:nvPr/>
        </p:nvSpPr>
        <p:spPr>
          <a:xfrm>
            <a:off x="127818" y="3307047"/>
            <a:ext cx="1593706" cy="523220"/>
          </a:xfrm>
          <a:prstGeom prst="rect">
            <a:avLst/>
          </a:prstGeom>
          <a:noFill/>
        </p:spPr>
        <p:txBody>
          <a:bodyPr wrap="none" rtlCol="0">
            <a:spAutoFit/>
          </a:bodyPr>
          <a:lstStyle/>
          <a:p>
            <a:r>
              <a:rPr lang="en-US" sz="2800" dirty="0">
                <a:solidFill>
                  <a:schemeClr val="accent2">
                    <a:lumMod val="75000"/>
                  </a:schemeClr>
                </a:solidFill>
              </a:rPr>
              <a:t>Findings</a:t>
            </a:r>
            <a:endParaRPr lang="en-IN" sz="2800" dirty="0">
              <a:solidFill>
                <a:schemeClr val="accent2">
                  <a:lumMod val="75000"/>
                </a:schemeClr>
              </a:solidFill>
            </a:endParaRPr>
          </a:p>
        </p:txBody>
      </p:sp>
      <p:sp>
        <p:nvSpPr>
          <p:cNvPr id="14" name="TextBox 13">
            <a:extLst>
              <a:ext uri="{FF2B5EF4-FFF2-40B4-BE49-F238E27FC236}">
                <a16:creationId xmlns:a16="http://schemas.microsoft.com/office/drawing/2014/main" id="{C8A53924-A76C-8F64-A63E-46F900367A6A}"/>
              </a:ext>
            </a:extLst>
          </p:cNvPr>
          <p:cNvSpPr txBox="1"/>
          <p:nvPr/>
        </p:nvSpPr>
        <p:spPr>
          <a:xfrm>
            <a:off x="127818" y="3781105"/>
            <a:ext cx="4545516" cy="2585323"/>
          </a:xfrm>
          <a:prstGeom prst="rect">
            <a:avLst/>
          </a:prstGeom>
          <a:noFill/>
        </p:spPr>
        <p:txBody>
          <a:bodyPr wrap="square" rtlCol="0">
            <a:spAutoFit/>
          </a:bodyPr>
          <a:lstStyle/>
          <a:p>
            <a:r>
              <a:rPr lang="en-IN" dirty="0"/>
              <a:t>The workforce is predominantly </a:t>
            </a:r>
            <a:r>
              <a:rPr lang="en-IN" b="1" dirty="0"/>
              <a:t>male (60%)</a:t>
            </a:r>
            <a:r>
              <a:rPr lang="en-IN" dirty="0"/>
              <a:t> and heavily concentrated in </a:t>
            </a:r>
            <a:r>
              <a:rPr lang="en-IN" b="1" dirty="0"/>
              <a:t>Research &amp; Development (980 employees)</a:t>
            </a:r>
            <a:r>
              <a:rPr lang="en-IN" dirty="0"/>
              <a:t>, with </a:t>
            </a:r>
            <a:r>
              <a:rPr lang="en-IN" b="1" dirty="0"/>
              <a:t>Sales Executive</a:t>
            </a:r>
            <a:r>
              <a:rPr lang="en-IN" dirty="0"/>
              <a:t> and </a:t>
            </a:r>
            <a:r>
              <a:rPr lang="en-IN" b="1" dirty="0"/>
              <a:t>Research Scientist</a:t>
            </a:r>
            <a:r>
              <a:rPr lang="en-IN" dirty="0"/>
              <a:t> being the top job roles. Notably, </a:t>
            </a:r>
            <a:r>
              <a:rPr lang="en-IN" b="1" dirty="0"/>
              <a:t>28% of employees (422) work regular overtime</a:t>
            </a:r>
            <a:r>
              <a:rPr lang="en-IN" dirty="0"/>
              <a:t>, presenting a key operational factor to watch for burnout, while </a:t>
            </a:r>
            <a:r>
              <a:rPr lang="en-IN" b="1" dirty="0"/>
              <a:t>71% travel rarely</a:t>
            </a:r>
            <a:r>
              <a:rPr lang="en-IN" dirty="0"/>
              <a:t> for business.</a:t>
            </a:r>
          </a:p>
        </p:txBody>
      </p:sp>
    </p:spTree>
    <p:extLst>
      <p:ext uri="{BB962C8B-B14F-4D97-AF65-F5344CB8AC3E}">
        <p14:creationId xmlns:p14="http://schemas.microsoft.com/office/powerpoint/2010/main" val="24557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11533A-E434-5EDC-7950-8D8754E45F8A}"/>
              </a:ext>
            </a:extLst>
          </p:cNvPr>
          <p:cNvSpPr txBox="1"/>
          <p:nvPr/>
        </p:nvSpPr>
        <p:spPr>
          <a:xfrm>
            <a:off x="324464" y="344128"/>
            <a:ext cx="8652387" cy="646331"/>
          </a:xfrm>
          <a:prstGeom prst="rect">
            <a:avLst/>
          </a:prstGeom>
          <a:noFill/>
        </p:spPr>
        <p:txBody>
          <a:bodyPr wrap="square" rtlCol="0">
            <a:spAutoFit/>
          </a:bodyPr>
          <a:lstStyle/>
          <a:p>
            <a:r>
              <a:rPr lang="en-US" sz="3600" b="1" dirty="0">
                <a:solidFill>
                  <a:srgbClr val="FFC000"/>
                </a:solidFill>
              </a:rPr>
              <a:t>Attrition Count by Gender Category</a:t>
            </a:r>
            <a:endParaRPr lang="en-IN" sz="3600" b="1" dirty="0">
              <a:solidFill>
                <a:srgbClr val="FFC000"/>
              </a:solidFill>
            </a:endParaRPr>
          </a:p>
        </p:txBody>
      </p:sp>
      <p:pic>
        <p:nvPicPr>
          <p:cNvPr id="4" name="Picture 3">
            <a:extLst>
              <a:ext uri="{FF2B5EF4-FFF2-40B4-BE49-F238E27FC236}">
                <a16:creationId xmlns:a16="http://schemas.microsoft.com/office/drawing/2014/main" id="{4F53957A-9698-4E12-D73C-F15D79F80D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2592" y="2248508"/>
            <a:ext cx="5696723" cy="4242824"/>
          </a:xfrm>
          <a:prstGeom prst="rect">
            <a:avLst/>
          </a:prstGeom>
        </p:spPr>
      </p:pic>
      <p:pic>
        <p:nvPicPr>
          <p:cNvPr id="6" name="Picture 5">
            <a:extLst>
              <a:ext uri="{FF2B5EF4-FFF2-40B4-BE49-F238E27FC236}">
                <a16:creationId xmlns:a16="http://schemas.microsoft.com/office/drawing/2014/main" id="{8489946B-D97E-2F47-DE80-6F93C97537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8180" y="255638"/>
            <a:ext cx="2621135" cy="1881840"/>
          </a:xfrm>
          <a:prstGeom prst="rect">
            <a:avLst/>
          </a:prstGeom>
        </p:spPr>
      </p:pic>
      <p:sp>
        <p:nvSpPr>
          <p:cNvPr id="8" name="TextBox 7">
            <a:extLst>
              <a:ext uri="{FF2B5EF4-FFF2-40B4-BE49-F238E27FC236}">
                <a16:creationId xmlns:a16="http://schemas.microsoft.com/office/drawing/2014/main" id="{8012320F-A672-D2A7-9194-27745BE107C5}"/>
              </a:ext>
            </a:extLst>
          </p:cNvPr>
          <p:cNvSpPr txBox="1"/>
          <p:nvPr/>
        </p:nvSpPr>
        <p:spPr>
          <a:xfrm>
            <a:off x="324464" y="1252073"/>
            <a:ext cx="1794081" cy="584775"/>
          </a:xfrm>
          <a:prstGeom prst="rect">
            <a:avLst/>
          </a:prstGeom>
          <a:noFill/>
        </p:spPr>
        <p:txBody>
          <a:bodyPr wrap="none" rtlCol="0">
            <a:spAutoFit/>
          </a:bodyPr>
          <a:lstStyle/>
          <a:p>
            <a:r>
              <a:rPr lang="en-US" sz="3200" dirty="0">
                <a:solidFill>
                  <a:schemeClr val="accent2">
                    <a:lumMod val="75000"/>
                  </a:schemeClr>
                </a:solidFill>
              </a:rPr>
              <a:t>Findings</a:t>
            </a:r>
            <a:endParaRPr lang="en-IN" sz="3200" dirty="0">
              <a:solidFill>
                <a:schemeClr val="accent2">
                  <a:lumMod val="75000"/>
                </a:schemeClr>
              </a:solidFill>
            </a:endParaRPr>
          </a:p>
        </p:txBody>
      </p:sp>
      <p:sp>
        <p:nvSpPr>
          <p:cNvPr id="9" name="TextBox 8">
            <a:extLst>
              <a:ext uri="{FF2B5EF4-FFF2-40B4-BE49-F238E27FC236}">
                <a16:creationId xmlns:a16="http://schemas.microsoft.com/office/drawing/2014/main" id="{B16657C7-23E1-8245-608E-52EEA32815F7}"/>
              </a:ext>
            </a:extLst>
          </p:cNvPr>
          <p:cNvSpPr txBox="1"/>
          <p:nvPr/>
        </p:nvSpPr>
        <p:spPr>
          <a:xfrm>
            <a:off x="324464" y="2172929"/>
            <a:ext cx="5515897" cy="3693319"/>
          </a:xfrm>
          <a:prstGeom prst="rect">
            <a:avLst/>
          </a:prstGeom>
          <a:noFill/>
        </p:spPr>
        <p:txBody>
          <a:bodyPr wrap="square" rtlCol="0">
            <a:spAutoFit/>
          </a:bodyPr>
          <a:lstStyle/>
          <a:p>
            <a:pPr marL="285750" indent="-285750">
              <a:buFont typeface="Arial" panose="020B0604020202020204" pitchFamily="34" charset="0"/>
              <a:buChar char="•"/>
            </a:pPr>
            <a:r>
              <a:rPr lang="en-IN" dirty="0"/>
              <a:t>The workforce is predominantly male, comprising </a:t>
            </a:r>
            <a:r>
              <a:rPr lang="en-IN" b="1" dirty="0"/>
              <a:t>59.9%</a:t>
            </a:r>
            <a:r>
              <a:rPr lang="en-IN" dirty="0"/>
              <a:t> (902) of total employees compared to </a:t>
            </a:r>
            <a:r>
              <a:rPr lang="en-IN" b="1" dirty="0"/>
              <a:t>40.1%</a:t>
            </a:r>
            <a:r>
              <a:rPr lang="en-IN" dirty="0"/>
              <a:t> (603) female employees.</a:t>
            </a:r>
          </a:p>
          <a:p>
            <a:pPr marL="285750" indent="-285750">
              <a:buFont typeface="Arial" panose="020B0604020202020204" pitchFamily="34" charset="0"/>
              <a:buChar char="•"/>
            </a:pPr>
            <a:r>
              <a:rPr lang="en-US" dirty="0"/>
              <a:t>In male category, it has almost 16.74% attrition rate and in female category, it is 14.92% attrition rate.</a:t>
            </a:r>
            <a:endParaRPr lang="en-IN" dirty="0"/>
          </a:p>
          <a:p>
            <a:pPr marL="285750" indent="-285750">
              <a:buFont typeface="Arial" panose="020B0604020202020204" pitchFamily="34" charset="0"/>
              <a:buChar char="•"/>
            </a:pPr>
            <a:r>
              <a:rPr lang="en-IN" dirty="0"/>
              <a:t>As per this data, we can say that we need to analyse the data more so that we can get more useful insights because on just gender categories we know male are more leaving but we need to know the root cause.</a:t>
            </a:r>
          </a:p>
          <a:p>
            <a:pPr marL="285750" indent="-285750">
              <a:buFont typeface="Arial" panose="020B0604020202020204" pitchFamily="34" charset="0"/>
              <a:buChar char="•"/>
            </a:pPr>
            <a:r>
              <a:rPr lang="en-IN" dirty="0"/>
              <a:t>Let’s deep dive into it and find some useful insights…….</a:t>
            </a:r>
            <a:endParaRPr lang="en-US" dirty="0"/>
          </a:p>
        </p:txBody>
      </p:sp>
    </p:spTree>
    <p:extLst>
      <p:ext uri="{BB962C8B-B14F-4D97-AF65-F5344CB8AC3E}">
        <p14:creationId xmlns:p14="http://schemas.microsoft.com/office/powerpoint/2010/main" val="714724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B5EA40-5D88-6BE8-715A-799250285DD6}"/>
              </a:ext>
            </a:extLst>
          </p:cNvPr>
          <p:cNvSpPr txBox="1"/>
          <p:nvPr/>
        </p:nvSpPr>
        <p:spPr>
          <a:xfrm>
            <a:off x="167147" y="196645"/>
            <a:ext cx="11690555" cy="523220"/>
          </a:xfrm>
          <a:prstGeom prst="rect">
            <a:avLst/>
          </a:prstGeom>
          <a:noFill/>
        </p:spPr>
        <p:txBody>
          <a:bodyPr wrap="square" rtlCol="0">
            <a:spAutoFit/>
          </a:bodyPr>
          <a:lstStyle/>
          <a:p>
            <a:r>
              <a:rPr lang="en-US" sz="2800" b="1" dirty="0">
                <a:solidFill>
                  <a:srgbClr val="FFC000"/>
                </a:solidFill>
              </a:rPr>
              <a:t>Attrition Count by AgeGroup &amp; MaritalStatus</a:t>
            </a:r>
            <a:endParaRPr lang="en-IN" sz="2800" b="1" dirty="0">
              <a:solidFill>
                <a:srgbClr val="FFC000"/>
              </a:solidFill>
            </a:endParaRPr>
          </a:p>
        </p:txBody>
      </p:sp>
      <p:pic>
        <p:nvPicPr>
          <p:cNvPr id="4" name="Picture 3">
            <a:extLst>
              <a:ext uri="{FF2B5EF4-FFF2-40B4-BE49-F238E27FC236}">
                <a16:creationId xmlns:a16="http://schemas.microsoft.com/office/drawing/2014/main" id="{EE13B108-8B01-FF95-8E5B-866F54C6EC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4649" y="925824"/>
            <a:ext cx="5536898" cy="3299680"/>
          </a:xfrm>
          <a:prstGeom prst="rect">
            <a:avLst/>
          </a:prstGeom>
        </p:spPr>
      </p:pic>
      <p:pic>
        <p:nvPicPr>
          <p:cNvPr id="6" name="Picture 5">
            <a:extLst>
              <a:ext uri="{FF2B5EF4-FFF2-40B4-BE49-F238E27FC236}">
                <a16:creationId xmlns:a16="http://schemas.microsoft.com/office/drawing/2014/main" id="{1FB5A98C-0131-9000-83FF-B8886A247F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453" y="935658"/>
            <a:ext cx="5428231" cy="3299681"/>
          </a:xfrm>
          <a:prstGeom prst="rect">
            <a:avLst/>
          </a:prstGeom>
        </p:spPr>
      </p:pic>
      <p:sp>
        <p:nvSpPr>
          <p:cNvPr id="7" name="TextBox 6">
            <a:extLst>
              <a:ext uri="{FF2B5EF4-FFF2-40B4-BE49-F238E27FC236}">
                <a16:creationId xmlns:a16="http://schemas.microsoft.com/office/drawing/2014/main" id="{230B2DF1-DCB1-661A-0213-8221F287B552}"/>
              </a:ext>
            </a:extLst>
          </p:cNvPr>
          <p:cNvSpPr txBox="1"/>
          <p:nvPr/>
        </p:nvSpPr>
        <p:spPr>
          <a:xfrm>
            <a:off x="167147" y="4219018"/>
            <a:ext cx="1593706" cy="523220"/>
          </a:xfrm>
          <a:prstGeom prst="rect">
            <a:avLst/>
          </a:prstGeom>
          <a:noFill/>
        </p:spPr>
        <p:txBody>
          <a:bodyPr wrap="none" rtlCol="0">
            <a:spAutoFit/>
          </a:bodyPr>
          <a:lstStyle/>
          <a:p>
            <a:r>
              <a:rPr lang="en-US" sz="2800" dirty="0">
                <a:solidFill>
                  <a:schemeClr val="accent2">
                    <a:lumMod val="75000"/>
                  </a:schemeClr>
                </a:solidFill>
              </a:rPr>
              <a:t>Findings</a:t>
            </a:r>
            <a:endParaRPr lang="en-IN" sz="2800" dirty="0">
              <a:solidFill>
                <a:schemeClr val="accent2">
                  <a:lumMod val="75000"/>
                </a:schemeClr>
              </a:solidFill>
            </a:endParaRPr>
          </a:p>
        </p:txBody>
      </p:sp>
      <p:sp>
        <p:nvSpPr>
          <p:cNvPr id="8" name="TextBox 7">
            <a:extLst>
              <a:ext uri="{FF2B5EF4-FFF2-40B4-BE49-F238E27FC236}">
                <a16:creationId xmlns:a16="http://schemas.microsoft.com/office/drawing/2014/main" id="{E20BAD90-409D-175E-1585-76E43F9170F7}"/>
              </a:ext>
            </a:extLst>
          </p:cNvPr>
          <p:cNvSpPr txBox="1"/>
          <p:nvPr/>
        </p:nvSpPr>
        <p:spPr>
          <a:xfrm>
            <a:off x="510453" y="4722574"/>
            <a:ext cx="11171094" cy="1754326"/>
          </a:xfrm>
          <a:prstGeom prst="rect">
            <a:avLst/>
          </a:prstGeom>
          <a:noFill/>
        </p:spPr>
        <p:txBody>
          <a:bodyPr wrap="square" rtlCol="0">
            <a:spAutoFit/>
          </a:bodyPr>
          <a:lstStyle/>
          <a:p>
            <a:pPr marL="285750" indent="-285750">
              <a:buFont typeface="Arial" panose="020B0604020202020204" pitchFamily="34" charset="0"/>
              <a:buChar char="•"/>
            </a:pPr>
            <a:r>
              <a:rPr lang="en-IN" b="1" dirty="0"/>
              <a:t>High-Risk Demographic:</a:t>
            </a:r>
            <a:r>
              <a:rPr lang="en-IN" dirty="0"/>
              <a:t> Employees who are </a:t>
            </a:r>
            <a:r>
              <a:rPr lang="en-IN" b="1" dirty="0"/>
              <a:t>single</a:t>
            </a:r>
            <a:r>
              <a:rPr lang="en-IN" dirty="0"/>
              <a:t> or </a:t>
            </a:r>
            <a:r>
              <a:rPr lang="en-IN" b="1" dirty="0"/>
              <a:t>younger (aged 18–30)</a:t>
            </a:r>
            <a:r>
              <a:rPr lang="en-IN" dirty="0"/>
              <a:t> exhibit the highest attrition rates in the organization.</a:t>
            </a:r>
            <a:endParaRPr lang="en-US" dirty="0"/>
          </a:p>
          <a:p>
            <a:pPr marL="285750" indent="-285750">
              <a:buFont typeface="Arial" panose="020B0604020202020204" pitchFamily="34" charset="0"/>
              <a:buChar char="•"/>
            </a:pPr>
            <a:r>
              <a:rPr lang="en-IN" b="1" dirty="0"/>
              <a:t>Single</a:t>
            </a:r>
            <a:r>
              <a:rPr lang="en-IN" dirty="0"/>
              <a:t> employees have 25.10% attrition rate and </a:t>
            </a:r>
            <a:r>
              <a:rPr lang="en-IN" b="1" dirty="0"/>
              <a:t>young(18-30) </a:t>
            </a:r>
            <a:r>
              <a:rPr lang="en-IN" dirty="0"/>
              <a:t>employees have 25.9% attrition rate.</a:t>
            </a:r>
          </a:p>
          <a:p>
            <a:pPr marL="285750" indent="-285750">
              <a:buFont typeface="Arial" panose="020B0604020202020204" pitchFamily="34" charset="0"/>
              <a:buChar char="•"/>
            </a:pPr>
            <a:r>
              <a:rPr lang="en-IN" b="1" dirty="0"/>
              <a:t>Core Insight:</a:t>
            </a:r>
            <a:r>
              <a:rPr lang="en-IN" dirty="0"/>
              <a:t> Both groups show nearly identical elevated exit rates, indicating that early-career and single employees are significantly more prone to leaving compared to older or married peers. </a:t>
            </a:r>
          </a:p>
          <a:p>
            <a:pPr marL="285750" indent="-285750">
              <a:buFont typeface="Arial" panose="020B0604020202020204" pitchFamily="34" charset="0"/>
              <a:buChar char="•"/>
            </a:pPr>
            <a:r>
              <a:rPr lang="en-IN" dirty="0"/>
              <a:t>In conclusion, we need to care about these employees and provide more opportunities.</a:t>
            </a:r>
          </a:p>
        </p:txBody>
      </p:sp>
    </p:spTree>
    <p:extLst>
      <p:ext uri="{BB962C8B-B14F-4D97-AF65-F5344CB8AC3E}">
        <p14:creationId xmlns:p14="http://schemas.microsoft.com/office/powerpoint/2010/main" val="723076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A9F2E2-334A-8A29-F34A-E186E86D1C62}"/>
              </a:ext>
            </a:extLst>
          </p:cNvPr>
          <p:cNvSpPr txBox="1"/>
          <p:nvPr/>
        </p:nvSpPr>
        <p:spPr>
          <a:xfrm>
            <a:off x="285724" y="292508"/>
            <a:ext cx="7010252" cy="584775"/>
          </a:xfrm>
          <a:prstGeom prst="rect">
            <a:avLst/>
          </a:prstGeom>
          <a:noFill/>
        </p:spPr>
        <p:txBody>
          <a:bodyPr wrap="none" rtlCol="0">
            <a:spAutoFit/>
          </a:bodyPr>
          <a:lstStyle/>
          <a:p>
            <a:r>
              <a:rPr lang="en-US" sz="3200" b="1" dirty="0">
                <a:solidFill>
                  <a:srgbClr val="FFC000"/>
                </a:solidFill>
              </a:rPr>
              <a:t>Attrition Count by Business Travel</a:t>
            </a:r>
            <a:endParaRPr lang="en-IN" sz="3200" b="1" dirty="0">
              <a:solidFill>
                <a:srgbClr val="FFC000"/>
              </a:solidFill>
            </a:endParaRPr>
          </a:p>
        </p:txBody>
      </p:sp>
      <p:pic>
        <p:nvPicPr>
          <p:cNvPr id="4" name="Picture 3">
            <a:extLst>
              <a:ext uri="{FF2B5EF4-FFF2-40B4-BE49-F238E27FC236}">
                <a16:creationId xmlns:a16="http://schemas.microsoft.com/office/drawing/2014/main" id="{3945BC30-0E09-0594-6FB5-1DF67ACDE6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065" y="2134584"/>
            <a:ext cx="6105058" cy="3680423"/>
          </a:xfrm>
          <a:prstGeom prst="rect">
            <a:avLst/>
          </a:prstGeom>
        </p:spPr>
      </p:pic>
      <p:pic>
        <p:nvPicPr>
          <p:cNvPr id="6" name="Picture 5">
            <a:extLst>
              <a:ext uri="{FF2B5EF4-FFF2-40B4-BE49-F238E27FC236}">
                <a16:creationId xmlns:a16="http://schemas.microsoft.com/office/drawing/2014/main" id="{E3C30888-6D38-EB8B-69D2-325A3B379B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8530" y="292508"/>
            <a:ext cx="3251919" cy="2298677"/>
          </a:xfrm>
          <a:prstGeom prst="rect">
            <a:avLst/>
          </a:prstGeom>
        </p:spPr>
      </p:pic>
      <p:sp>
        <p:nvSpPr>
          <p:cNvPr id="7" name="TextBox 6">
            <a:extLst>
              <a:ext uri="{FF2B5EF4-FFF2-40B4-BE49-F238E27FC236}">
                <a16:creationId xmlns:a16="http://schemas.microsoft.com/office/drawing/2014/main" id="{5CFB3541-3DDF-1C39-45C5-1DC2AB6CB8CF}"/>
              </a:ext>
            </a:extLst>
          </p:cNvPr>
          <p:cNvSpPr txBox="1"/>
          <p:nvPr/>
        </p:nvSpPr>
        <p:spPr>
          <a:xfrm>
            <a:off x="6499123" y="2677724"/>
            <a:ext cx="1593706" cy="523220"/>
          </a:xfrm>
          <a:prstGeom prst="rect">
            <a:avLst/>
          </a:prstGeom>
          <a:noFill/>
        </p:spPr>
        <p:txBody>
          <a:bodyPr wrap="none" rtlCol="0">
            <a:spAutoFit/>
          </a:bodyPr>
          <a:lstStyle/>
          <a:p>
            <a:r>
              <a:rPr lang="en-US" sz="2800" dirty="0">
                <a:solidFill>
                  <a:schemeClr val="accent2">
                    <a:lumMod val="75000"/>
                  </a:schemeClr>
                </a:solidFill>
              </a:rPr>
              <a:t>Findings</a:t>
            </a:r>
            <a:endParaRPr lang="en-IN" sz="2800" dirty="0">
              <a:solidFill>
                <a:schemeClr val="accent2">
                  <a:lumMod val="75000"/>
                </a:schemeClr>
              </a:solidFill>
            </a:endParaRPr>
          </a:p>
        </p:txBody>
      </p:sp>
      <p:sp>
        <p:nvSpPr>
          <p:cNvPr id="8" name="TextBox 7">
            <a:extLst>
              <a:ext uri="{FF2B5EF4-FFF2-40B4-BE49-F238E27FC236}">
                <a16:creationId xmlns:a16="http://schemas.microsoft.com/office/drawing/2014/main" id="{2425AEA3-7E10-019E-60BC-05EDE73FFE84}"/>
              </a:ext>
            </a:extLst>
          </p:cNvPr>
          <p:cNvSpPr txBox="1"/>
          <p:nvPr/>
        </p:nvSpPr>
        <p:spPr>
          <a:xfrm>
            <a:off x="6607277" y="3276701"/>
            <a:ext cx="5348749"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As per BusinessTravel Category, it is quite visible that Travel_Frequently employees are more prone to leaving (24.91% rate).</a:t>
            </a:r>
          </a:p>
          <a:p>
            <a:pPr marL="285750" indent="-285750">
              <a:buFont typeface="Arial" panose="020B0604020202020204" pitchFamily="34" charset="0"/>
              <a:buChar char="•"/>
            </a:pPr>
            <a:r>
              <a:rPr lang="en-US" dirty="0"/>
              <a:t>As per the data, almost 70 employees are left out of 281 employees.</a:t>
            </a:r>
          </a:p>
          <a:p>
            <a:pPr marL="285750" indent="-285750">
              <a:buFont typeface="Arial" panose="020B0604020202020204" pitchFamily="34" charset="0"/>
              <a:buChar char="•"/>
            </a:pPr>
            <a:r>
              <a:rPr lang="en-US" dirty="0"/>
              <a:t>To reduce it, we need to check with the employee’s satisfactions and feedbacks so that we can understand the more clearly why they are leaving.</a:t>
            </a:r>
            <a:endParaRPr lang="en-IN" dirty="0"/>
          </a:p>
        </p:txBody>
      </p:sp>
    </p:spTree>
    <p:extLst>
      <p:ext uri="{BB962C8B-B14F-4D97-AF65-F5344CB8AC3E}">
        <p14:creationId xmlns:p14="http://schemas.microsoft.com/office/powerpoint/2010/main" val="1996127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E004AC-B5AF-AFF7-AF44-8983980864F5}"/>
              </a:ext>
            </a:extLst>
          </p:cNvPr>
          <p:cNvSpPr txBox="1"/>
          <p:nvPr/>
        </p:nvSpPr>
        <p:spPr>
          <a:xfrm>
            <a:off x="278382" y="176980"/>
            <a:ext cx="5817618" cy="584775"/>
          </a:xfrm>
          <a:prstGeom prst="rect">
            <a:avLst/>
          </a:prstGeom>
          <a:noFill/>
        </p:spPr>
        <p:txBody>
          <a:bodyPr wrap="none" rtlCol="0">
            <a:spAutoFit/>
          </a:bodyPr>
          <a:lstStyle/>
          <a:p>
            <a:r>
              <a:rPr lang="en-US" sz="3200" b="1" dirty="0">
                <a:solidFill>
                  <a:srgbClr val="FFC000"/>
                </a:solidFill>
              </a:rPr>
              <a:t>Attrition Count by OverTime</a:t>
            </a:r>
            <a:endParaRPr lang="en-IN" sz="3200" b="1" dirty="0">
              <a:solidFill>
                <a:srgbClr val="FFC000"/>
              </a:solidFill>
            </a:endParaRPr>
          </a:p>
        </p:txBody>
      </p:sp>
      <p:pic>
        <p:nvPicPr>
          <p:cNvPr id="4" name="Picture 3">
            <a:extLst>
              <a:ext uri="{FF2B5EF4-FFF2-40B4-BE49-F238E27FC236}">
                <a16:creationId xmlns:a16="http://schemas.microsoft.com/office/drawing/2014/main" id="{A595F3E3-DB5E-59FD-822C-330305DE2E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5934" y="3429000"/>
            <a:ext cx="5237515" cy="3075613"/>
          </a:xfrm>
          <a:prstGeom prst="rect">
            <a:avLst/>
          </a:prstGeom>
        </p:spPr>
      </p:pic>
      <p:pic>
        <p:nvPicPr>
          <p:cNvPr id="6" name="Picture 5">
            <a:extLst>
              <a:ext uri="{FF2B5EF4-FFF2-40B4-BE49-F238E27FC236}">
                <a16:creationId xmlns:a16="http://schemas.microsoft.com/office/drawing/2014/main" id="{A3853866-0838-3F18-F92C-6E80575D37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1836" y="353387"/>
            <a:ext cx="4291782" cy="2986848"/>
          </a:xfrm>
          <a:prstGeom prst="rect">
            <a:avLst/>
          </a:prstGeom>
        </p:spPr>
      </p:pic>
      <p:sp>
        <p:nvSpPr>
          <p:cNvPr id="7" name="TextBox 6">
            <a:extLst>
              <a:ext uri="{FF2B5EF4-FFF2-40B4-BE49-F238E27FC236}">
                <a16:creationId xmlns:a16="http://schemas.microsoft.com/office/drawing/2014/main" id="{50FF1C85-DB35-34BF-F3CB-48A84C9775F2}"/>
              </a:ext>
            </a:extLst>
          </p:cNvPr>
          <p:cNvSpPr txBox="1"/>
          <p:nvPr/>
        </p:nvSpPr>
        <p:spPr>
          <a:xfrm>
            <a:off x="278382" y="761755"/>
            <a:ext cx="1673856" cy="523220"/>
          </a:xfrm>
          <a:prstGeom prst="rect">
            <a:avLst/>
          </a:prstGeom>
          <a:noFill/>
        </p:spPr>
        <p:txBody>
          <a:bodyPr wrap="none" rtlCol="0">
            <a:spAutoFit/>
          </a:bodyPr>
          <a:lstStyle/>
          <a:p>
            <a:r>
              <a:rPr lang="en-US" sz="2800" dirty="0">
                <a:solidFill>
                  <a:schemeClr val="accent2">
                    <a:lumMod val="75000"/>
                  </a:schemeClr>
                </a:solidFill>
              </a:rPr>
              <a:t>Findings:</a:t>
            </a:r>
            <a:endParaRPr lang="en-IN" sz="2800" dirty="0">
              <a:solidFill>
                <a:schemeClr val="accent2">
                  <a:lumMod val="75000"/>
                </a:schemeClr>
              </a:solidFill>
            </a:endParaRPr>
          </a:p>
        </p:txBody>
      </p:sp>
      <p:sp>
        <p:nvSpPr>
          <p:cNvPr id="8" name="TextBox 7">
            <a:extLst>
              <a:ext uri="{FF2B5EF4-FFF2-40B4-BE49-F238E27FC236}">
                <a16:creationId xmlns:a16="http://schemas.microsoft.com/office/drawing/2014/main" id="{330F43C5-EA27-F689-927C-AA5750649215}"/>
              </a:ext>
            </a:extLst>
          </p:cNvPr>
          <p:cNvSpPr txBox="1"/>
          <p:nvPr/>
        </p:nvSpPr>
        <p:spPr>
          <a:xfrm>
            <a:off x="278382" y="1346530"/>
            <a:ext cx="614516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As per the data, almost 422 employees are working overtime.</a:t>
            </a:r>
          </a:p>
          <a:p>
            <a:pPr marL="285750" indent="-285750">
              <a:buFont typeface="Arial" panose="020B0604020202020204" pitchFamily="34" charset="0"/>
              <a:buChar char="•"/>
            </a:pPr>
            <a:r>
              <a:rPr lang="en-US" dirty="0"/>
              <a:t>Employee Attrition count can be seen easily and understood that employee who is working overtime, are more likely to be leavers.</a:t>
            </a:r>
          </a:p>
          <a:p>
            <a:pPr marL="285750" indent="-285750">
              <a:buFont typeface="Arial" panose="020B0604020202020204" pitchFamily="34" charset="0"/>
              <a:buChar char="•"/>
            </a:pPr>
            <a:r>
              <a:rPr lang="en-US" dirty="0"/>
              <a:t>Almost 30.09% attrition rate on those people who are working overtime.</a:t>
            </a:r>
          </a:p>
          <a:p>
            <a:pPr marL="285750" indent="-285750">
              <a:buFont typeface="Arial" panose="020B0604020202020204" pitchFamily="34" charset="0"/>
              <a:buChar char="•"/>
            </a:pPr>
            <a:r>
              <a:rPr lang="en-US" dirty="0"/>
              <a:t>In conclusion, we should appraise those people and treat them as valuable people.</a:t>
            </a:r>
            <a:endParaRPr lang="en-IN" dirty="0"/>
          </a:p>
        </p:txBody>
      </p:sp>
    </p:spTree>
    <p:extLst>
      <p:ext uri="{BB962C8B-B14F-4D97-AF65-F5344CB8AC3E}">
        <p14:creationId xmlns:p14="http://schemas.microsoft.com/office/powerpoint/2010/main" val="1335766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D531CD-846F-FD45-6E4F-28BCAA1FD9E2}"/>
              </a:ext>
            </a:extLst>
          </p:cNvPr>
          <p:cNvSpPr txBox="1"/>
          <p:nvPr/>
        </p:nvSpPr>
        <p:spPr>
          <a:xfrm>
            <a:off x="137651" y="147484"/>
            <a:ext cx="7356501" cy="523220"/>
          </a:xfrm>
          <a:prstGeom prst="rect">
            <a:avLst/>
          </a:prstGeom>
          <a:noFill/>
        </p:spPr>
        <p:txBody>
          <a:bodyPr wrap="none" rtlCol="0">
            <a:spAutoFit/>
          </a:bodyPr>
          <a:lstStyle/>
          <a:p>
            <a:r>
              <a:rPr lang="en-US" sz="2800" b="1" dirty="0">
                <a:solidFill>
                  <a:srgbClr val="FFC000"/>
                </a:solidFill>
              </a:rPr>
              <a:t>Attrition Count by Department &amp; JobRole</a:t>
            </a:r>
            <a:endParaRPr lang="en-IN" sz="2800" b="1" dirty="0">
              <a:solidFill>
                <a:srgbClr val="FFC000"/>
              </a:solidFill>
            </a:endParaRPr>
          </a:p>
        </p:txBody>
      </p:sp>
      <p:pic>
        <p:nvPicPr>
          <p:cNvPr id="4" name="Picture 3">
            <a:extLst>
              <a:ext uri="{FF2B5EF4-FFF2-40B4-BE49-F238E27FC236}">
                <a16:creationId xmlns:a16="http://schemas.microsoft.com/office/drawing/2014/main" id="{49B4A291-6490-26DB-AF08-181DDF516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73" y="754253"/>
            <a:ext cx="6247057" cy="3473618"/>
          </a:xfrm>
          <a:prstGeom prst="rect">
            <a:avLst/>
          </a:prstGeom>
        </p:spPr>
      </p:pic>
      <p:pic>
        <p:nvPicPr>
          <p:cNvPr id="6" name="Picture 5">
            <a:extLst>
              <a:ext uri="{FF2B5EF4-FFF2-40B4-BE49-F238E27FC236}">
                <a16:creationId xmlns:a16="http://schemas.microsoft.com/office/drawing/2014/main" id="{13240E8F-D0B0-5BAE-C160-661651FEE3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7950" y="754253"/>
            <a:ext cx="5301560" cy="3479718"/>
          </a:xfrm>
          <a:prstGeom prst="rect">
            <a:avLst/>
          </a:prstGeom>
        </p:spPr>
      </p:pic>
      <p:sp>
        <p:nvSpPr>
          <p:cNvPr id="7" name="TextBox 6">
            <a:extLst>
              <a:ext uri="{FF2B5EF4-FFF2-40B4-BE49-F238E27FC236}">
                <a16:creationId xmlns:a16="http://schemas.microsoft.com/office/drawing/2014/main" id="{643832FE-7D02-74EA-B5D6-5B05815C6811}"/>
              </a:ext>
            </a:extLst>
          </p:cNvPr>
          <p:cNvSpPr txBox="1"/>
          <p:nvPr/>
        </p:nvSpPr>
        <p:spPr>
          <a:xfrm>
            <a:off x="235973" y="4336023"/>
            <a:ext cx="1673856" cy="523220"/>
          </a:xfrm>
          <a:prstGeom prst="rect">
            <a:avLst/>
          </a:prstGeom>
          <a:noFill/>
        </p:spPr>
        <p:txBody>
          <a:bodyPr wrap="none" rtlCol="0">
            <a:spAutoFit/>
          </a:bodyPr>
          <a:lstStyle/>
          <a:p>
            <a:r>
              <a:rPr lang="en-US" sz="2800" dirty="0">
                <a:solidFill>
                  <a:schemeClr val="accent2">
                    <a:lumMod val="75000"/>
                  </a:schemeClr>
                </a:solidFill>
              </a:rPr>
              <a:t>Findings:</a:t>
            </a:r>
            <a:endParaRPr lang="en-IN" sz="2800" dirty="0">
              <a:solidFill>
                <a:schemeClr val="accent2">
                  <a:lumMod val="75000"/>
                </a:schemeClr>
              </a:solidFill>
            </a:endParaRPr>
          </a:p>
        </p:txBody>
      </p:sp>
      <p:sp>
        <p:nvSpPr>
          <p:cNvPr id="8" name="TextBox 7">
            <a:extLst>
              <a:ext uri="{FF2B5EF4-FFF2-40B4-BE49-F238E27FC236}">
                <a16:creationId xmlns:a16="http://schemas.microsoft.com/office/drawing/2014/main" id="{B0D2CDE5-3316-830D-64C9-67DB45873905}"/>
              </a:ext>
            </a:extLst>
          </p:cNvPr>
          <p:cNvSpPr txBox="1"/>
          <p:nvPr/>
        </p:nvSpPr>
        <p:spPr>
          <a:xfrm>
            <a:off x="235973" y="5026394"/>
            <a:ext cx="1163353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As per given data, we can see that in department category, sales department has high attrition rate almost 20.69%. In JobRole category, sales representative has high attrition rate almost 38.37%.</a:t>
            </a:r>
          </a:p>
          <a:p>
            <a:pPr marL="285750" indent="-285750">
              <a:buFont typeface="Arial" panose="020B0604020202020204" pitchFamily="34" charset="0"/>
              <a:buChar char="•"/>
            </a:pPr>
            <a:r>
              <a:rPr lang="en-US" dirty="0"/>
              <a:t>We can see other job roles and departments to see the attrition rates like in human resources.</a:t>
            </a:r>
          </a:p>
          <a:p>
            <a:pPr marL="285750" indent="-285750">
              <a:buFont typeface="Arial" panose="020B0604020202020204" pitchFamily="34" charset="0"/>
              <a:buChar char="•"/>
            </a:pPr>
            <a:r>
              <a:rPr lang="en-US" dirty="0"/>
              <a:t>In conclusion, we need to check sales category so that we can handle these leavers.</a:t>
            </a:r>
          </a:p>
        </p:txBody>
      </p:sp>
    </p:spTree>
    <p:extLst>
      <p:ext uri="{BB962C8B-B14F-4D97-AF65-F5344CB8AC3E}">
        <p14:creationId xmlns:p14="http://schemas.microsoft.com/office/powerpoint/2010/main" val="2311384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70B0A-6619-4F15-DFE7-E96A05D60E06}"/>
              </a:ext>
            </a:extLst>
          </p:cNvPr>
          <p:cNvSpPr>
            <a:spLocks noGrp="1"/>
          </p:cNvSpPr>
          <p:nvPr>
            <p:ph type="title"/>
          </p:nvPr>
        </p:nvSpPr>
        <p:spPr/>
        <p:txBody>
          <a:bodyPr/>
          <a:lstStyle/>
          <a:p>
            <a:r>
              <a:rPr lang="en-US" dirty="0"/>
              <a:t>Kalpit Kishore</a:t>
            </a:r>
            <a:endParaRPr lang="en-IN" dirty="0"/>
          </a:p>
        </p:txBody>
      </p:sp>
      <p:sp>
        <p:nvSpPr>
          <p:cNvPr id="3" name="Content Placeholder 2">
            <a:extLst>
              <a:ext uri="{FF2B5EF4-FFF2-40B4-BE49-F238E27FC236}">
                <a16:creationId xmlns:a16="http://schemas.microsoft.com/office/drawing/2014/main" id="{0A496528-8F77-64DC-2CD9-E7BBE6909C8E}"/>
              </a:ext>
            </a:extLst>
          </p:cNvPr>
          <p:cNvSpPr>
            <a:spLocks noGrp="1"/>
          </p:cNvSpPr>
          <p:nvPr>
            <p:ph sz="quarter" idx="13"/>
          </p:nvPr>
        </p:nvSpPr>
        <p:spPr/>
        <p:txBody>
          <a:bodyPr/>
          <a:lstStyle/>
          <a:p>
            <a:pPr algn="ctr"/>
            <a:r>
              <a:rPr lang="en-US" dirty="0"/>
              <a:t>Numerical Analysis</a:t>
            </a:r>
            <a:endParaRPr lang="en-IN" dirty="0"/>
          </a:p>
        </p:txBody>
      </p:sp>
    </p:spTree>
    <p:extLst>
      <p:ext uri="{BB962C8B-B14F-4D97-AF65-F5344CB8AC3E}">
        <p14:creationId xmlns:p14="http://schemas.microsoft.com/office/powerpoint/2010/main" val="132129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D93DBC-AD2E-03EF-BBB2-124C591D8924}"/>
              </a:ext>
            </a:extLst>
          </p:cNvPr>
          <p:cNvSpPr txBox="1"/>
          <p:nvPr/>
        </p:nvSpPr>
        <p:spPr>
          <a:xfrm>
            <a:off x="196643" y="137652"/>
            <a:ext cx="4945626" cy="707886"/>
          </a:xfrm>
          <a:prstGeom prst="rect">
            <a:avLst/>
          </a:prstGeom>
          <a:noFill/>
        </p:spPr>
        <p:txBody>
          <a:bodyPr wrap="square" rtlCol="0">
            <a:spAutoFit/>
          </a:bodyPr>
          <a:lstStyle/>
          <a:p>
            <a:r>
              <a:rPr lang="en-US" sz="4000" b="1" dirty="0">
                <a:solidFill>
                  <a:srgbClr val="FFC000"/>
                </a:solidFill>
              </a:rPr>
              <a:t>Univariate Analysis</a:t>
            </a:r>
            <a:endParaRPr lang="en-IN" sz="4000" b="1" dirty="0">
              <a:solidFill>
                <a:srgbClr val="FFC000"/>
              </a:solidFill>
            </a:endParaRPr>
          </a:p>
        </p:txBody>
      </p:sp>
      <p:pic>
        <p:nvPicPr>
          <p:cNvPr id="4" name="Picture 3">
            <a:extLst>
              <a:ext uri="{FF2B5EF4-FFF2-40B4-BE49-F238E27FC236}">
                <a16:creationId xmlns:a16="http://schemas.microsoft.com/office/drawing/2014/main" id="{278A0BBB-3710-47B7-7E83-9D3CD8AB0A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1893" y="3687099"/>
            <a:ext cx="4468739" cy="2801828"/>
          </a:xfrm>
          <a:prstGeom prst="rect">
            <a:avLst/>
          </a:prstGeom>
        </p:spPr>
      </p:pic>
      <p:pic>
        <p:nvPicPr>
          <p:cNvPr id="6" name="Picture 5">
            <a:extLst>
              <a:ext uri="{FF2B5EF4-FFF2-40B4-BE49-F238E27FC236}">
                <a16:creationId xmlns:a16="http://schemas.microsoft.com/office/drawing/2014/main" id="{ADE75FE8-CDEF-7CDD-3277-C5CCAC095F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0153" y="4609672"/>
            <a:ext cx="3395204" cy="2110676"/>
          </a:xfrm>
          <a:prstGeom prst="rect">
            <a:avLst/>
          </a:prstGeom>
        </p:spPr>
      </p:pic>
      <p:pic>
        <p:nvPicPr>
          <p:cNvPr id="8" name="Picture 7">
            <a:extLst>
              <a:ext uri="{FF2B5EF4-FFF2-40B4-BE49-F238E27FC236}">
                <a16:creationId xmlns:a16="http://schemas.microsoft.com/office/drawing/2014/main" id="{76947CE7-E3CE-98C7-4284-ECD4639CE9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20203" y="2382275"/>
            <a:ext cx="3375154" cy="2093450"/>
          </a:xfrm>
          <a:prstGeom prst="rect">
            <a:avLst/>
          </a:prstGeom>
        </p:spPr>
      </p:pic>
      <p:pic>
        <p:nvPicPr>
          <p:cNvPr id="10" name="Picture 9">
            <a:extLst>
              <a:ext uri="{FF2B5EF4-FFF2-40B4-BE49-F238E27FC236}">
                <a16:creationId xmlns:a16="http://schemas.microsoft.com/office/drawing/2014/main" id="{B8C3DCA3-5F9F-BC55-8368-ED3EC6B2D8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0727" y="137652"/>
            <a:ext cx="3384630" cy="2104103"/>
          </a:xfrm>
          <a:prstGeom prst="rect">
            <a:avLst/>
          </a:prstGeom>
        </p:spPr>
      </p:pic>
      <p:pic>
        <p:nvPicPr>
          <p:cNvPr id="12" name="Picture 11">
            <a:extLst>
              <a:ext uri="{FF2B5EF4-FFF2-40B4-BE49-F238E27FC236}">
                <a16:creationId xmlns:a16="http://schemas.microsoft.com/office/drawing/2014/main" id="{E1E64BCF-93D2-4FA9-C647-2F441D253DD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25187" y="904750"/>
            <a:ext cx="4475446" cy="2674009"/>
          </a:xfrm>
          <a:prstGeom prst="rect">
            <a:avLst/>
          </a:prstGeom>
        </p:spPr>
      </p:pic>
      <p:sp>
        <p:nvSpPr>
          <p:cNvPr id="13" name="TextBox 12">
            <a:extLst>
              <a:ext uri="{FF2B5EF4-FFF2-40B4-BE49-F238E27FC236}">
                <a16:creationId xmlns:a16="http://schemas.microsoft.com/office/drawing/2014/main" id="{9D20F013-37E7-5898-A46D-567926ABFC5D}"/>
              </a:ext>
            </a:extLst>
          </p:cNvPr>
          <p:cNvSpPr txBox="1"/>
          <p:nvPr/>
        </p:nvSpPr>
        <p:spPr>
          <a:xfrm>
            <a:off x="196643" y="757084"/>
            <a:ext cx="1673856" cy="523220"/>
          </a:xfrm>
          <a:prstGeom prst="rect">
            <a:avLst/>
          </a:prstGeom>
          <a:noFill/>
        </p:spPr>
        <p:txBody>
          <a:bodyPr wrap="none" rtlCol="0">
            <a:spAutoFit/>
          </a:bodyPr>
          <a:lstStyle/>
          <a:p>
            <a:r>
              <a:rPr lang="en-US" sz="2800" dirty="0">
                <a:solidFill>
                  <a:schemeClr val="accent2">
                    <a:lumMod val="75000"/>
                  </a:schemeClr>
                </a:solidFill>
              </a:rPr>
              <a:t>Findings:</a:t>
            </a:r>
            <a:endParaRPr lang="en-IN" sz="2800" dirty="0">
              <a:solidFill>
                <a:schemeClr val="accent2">
                  <a:lumMod val="75000"/>
                </a:schemeClr>
              </a:solidFill>
            </a:endParaRPr>
          </a:p>
        </p:txBody>
      </p:sp>
      <p:sp>
        <p:nvSpPr>
          <p:cNvPr id="15" name="TextBox 14">
            <a:extLst>
              <a:ext uri="{FF2B5EF4-FFF2-40B4-BE49-F238E27FC236}">
                <a16:creationId xmlns:a16="http://schemas.microsoft.com/office/drawing/2014/main" id="{76EE309A-4F4B-DE5D-40E8-B5B847A63446}"/>
              </a:ext>
            </a:extLst>
          </p:cNvPr>
          <p:cNvSpPr txBox="1"/>
          <p:nvPr/>
        </p:nvSpPr>
        <p:spPr>
          <a:xfrm>
            <a:off x="196643" y="1280304"/>
            <a:ext cx="3708974" cy="5078313"/>
          </a:xfrm>
          <a:prstGeom prst="rect">
            <a:avLst/>
          </a:prstGeom>
          <a:noFill/>
        </p:spPr>
        <p:txBody>
          <a:bodyPr wrap="square" rtlCol="0">
            <a:spAutoFit/>
          </a:bodyPr>
          <a:lstStyle/>
          <a:p>
            <a:r>
              <a:rPr lang="en-US" dirty="0"/>
              <a:t>The numerical distributions show a heavily early-career and entry-to-mid level workforce structure.</a:t>
            </a:r>
          </a:p>
          <a:p>
            <a:r>
              <a:rPr lang="en-US" dirty="0"/>
              <a:t>Most employees are concentrated in lower tenure brackets, with the majority under 10 total working years, less than 5 years at a company and under 3 years with their current manager. Correspondingly, compensation is right-skewed, with most staff earning lower-to-mid monthly incomes, while commute distances are mostly short-to-moderate though a few extreme commute outliers exist.</a:t>
            </a:r>
          </a:p>
          <a:p>
            <a:r>
              <a:rPr lang="en-US" dirty="0"/>
              <a:t>Let’s deep dive into it one by one….</a:t>
            </a:r>
          </a:p>
        </p:txBody>
      </p:sp>
    </p:spTree>
    <p:extLst>
      <p:ext uri="{BB962C8B-B14F-4D97-AF65-F5344CB8AC3E}">
        <p14:creationId xmlns:p14="http://schemas.microsoft.com/office/powerpoint/2010/main" val="2525035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9F962E-0E08-BDB1-D32A-75D0C16CFE63}"/>
              </a:ext>
            </a:extLst>
          </p:cNvPr>
          <p:cNvSpPr txBox="1"/>
          <p:nvPr/>
        </p:nvSpPr>
        <p:spPr>
          <a:xfrm>
            <a:off x="88490" y="147483"/>
            <a:ext cx="7039106" cy="584775"/>
          </a:xfrm>
          <a:prstGeom prst="rect">
            <a:avLst/>
          </a:prstGeom>
          <a:noFill/>
        </p:spPr>
        <p:txBody>
          <a:bodyPr wrap="none" rtlCol="0">
            <a:spAutoFit/>
          </a:bodyPr>
          <a:lstStyle/>
          <a:p>
            <a:r>
              <a:rPr lang="en-US" sz="3200" b="1" dirty="0">
                <a:solidFill>
                  <a:srgbClr val="FFC000"/>
                </a:solidFill>
              </a:rPr>
              <a:t>Attrition Count by Monthly Income</a:t>
            </a:r>
            <a:endParaRPr lang="en-IN" sz="3200" b="1" dirty="0">
              <a:solidFill>
                <a:srgbClr val="FFC000"/>
              </a:solidFill>
            </a:endParaRPr>
          </a:p>
        </p:txBody>
      </p:sp>
      <p:pic>
        <p:nvPicPr>
          <p:cNvPr id="4" name="Picture 3">
            <a:extLst>
              <a:ext uri="{FF2B5EF4-FFF2-40B4-BE49-F238E27FC236}">
                <a16:creationId xmlns:a16="http://schemas.microsoft.com/office/drawing/2014/main" id="{DF2C867B-4DA4-2778-F5D3-EFB51B2C8B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846338"/>
            <a:ext cx="5836042" cy="3602863"/>
          </a:xfrm>
          <a:prstGeom prst="rect">
            <a:avLst/>
          </a:prstGeom>
        </p:spPr>
      </p:pic>
      <p:pic>
        <p:nvPicPr>
          <p:cNvPr id="6" name="Picture 5">
            <a:extLst>
              <a:ext uri="{FF2B5EF4-FFF2-40B4-BE49-F238E27FC236}">
                <a16:creationId xmlns:a16="http://schemas.microsoft.com/office/drawing/2014/main" id="{A1BB36F7-12E5-243D-59DC-D7F749C0B2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2213" y="4532672"/>
            <a:ext cx="3599829" cy="2150842"/>
          </a:xfrm>
          <a:prstGeom prst="rect">
            <a:avLst/>
          </a:prstGeom>
        </p:spPr>
      </p:pic>
      <p:sp>
        <p:nvSpPr>
          <p:cNvPr id="7" name="TextBox 6">
            <a:extLst>
              <a:ext uri="{FF2B5EF4-FFF2-40B4-BE49-F238E27FC236}">
                <a16:creationId xmlns:a16="http://schemas.microsoft.com/office/drawing/2014/main" id="{F1AE8CF9-2457-5568-9980-CB6F7098AFE0}"/>
              </a:ext>
            </a:extLst>
          </p:cNvPr>
          <p:cNvSpPr txBox="1"/>
          <p:nvPr/>
        </p:nvSpPr>
        <p:spPr>
          <a:xfrm>
            <a:off x="88490" y="732258"/>
            <a:ext cx="1593706" cy="523220"/>
          </a:xfrm>
          <a:prstGeom prst="rect">
            <a:avLst/>
          </a:prstGeom>
          <a:noFill/>
        </p:spPr>
        <p:txBody>
          <a:bodyPr wrap="none" rtlCol="0">
            <a:spAutoFit/>
          </a:bodyPr>
          <a:lstStyle/>
          <a:p>
            <a:r>
              <a:rPr lang="en-US" sz="2800" dirty="0">
                <a:solidFill>
                  <a:schemeClr val="accent2">
                    <a:lumMod val="75000"/>
                  </a:schemeClr>
                </a:solidFill>
              </a:rPr>
              <a:t>Findings</a:t>
            </a:r>
            <a:endParaRPr lang="en-IN" sz="2800" dirty="0">
              <a:solidFill>
                <a:schemeClr val="accent2">
                  <a:lumMod val="75000"/>
                </a:schemeClr>
              </a:solidFill>
            </a:endParaRPr>
          </a:p>
        </p:txBody>
      </p:sp>
      <p:sp>
        <p:nvSpPr>
          <p:cNvPr id="8" name="TextBox 7">
            <a:extLst>
              <a:ext uri="{FF2B5EF4-FFF2-40B4-BE49-F238E27FC236}">
                <a16:creationId xmlns:a16="http://schemas.microsoft.com/office/drawing/2014/main" id="{BEF5A197-C03E-0085-F578-C26FB3B70D18}"/>
              </a:ext>
            </a:extLst>
          </p:cNvPr>
          <p:cNvSpPr txBox="1"/>
          <p:nvPr/>
        </p:nvSpPr>
        <p:spPr>
          <a:xfrm>
            <a:off x="88490" y="1317033"/>
            <a:ext cx="5919020" cy="4247317"/>
          </a:xfrm>
          <a:prstGeom prst="rect">
            <a:avLst/>
          </a:prstGeom>
          <a:noFill/>
        </p:spPr>
        <p:txBody>
          <a:bodyPr wrap="square" rtlCol="0">
            <a:spAutoFit/>
          </a:bodyPr>
          <a:lstStyle/>
          <a:p>
            <a:pPr marL="285750" indent="-285750">
              <a:buFont typeface="Arial" panose="020B0604020202020204" pitchFamily="34" charset="0"/>
              <a:buChar char="•"/>
            </a:pPr>
            <a:r>
              <a:rPr lang="en-IN" b="1" dirty="0"/>
              <a:t>Income Gap:</a:t>
            </a:r>
            <a:r>
              <a:rPr lang="en-IN" dirty="0"/>
              <a:t> Employees who leave (</a:t>
            </a:r>
            <a:r>
              <a:rPr lang="en-IN" dirty="0" err="1"/>
              <a:t>Attrited</a:t>
            </a:r>
            <a:r>
              <a:rPr lang="en-IN" dirty="0"/>
              <a:t> = 1) have a significantly lower median monthly income (</a:t>
            </a:r>
            <a:r>
              <a:rPr lang="en-IN" b="1" dirty="0"/>
              <a:t>~$3,200</a:t>
            </a:r>
            <a:r>
              <a:rPr lang="en-IN" dirty="0"/>
              <a:t>) compared to retained employees (</a:t>
            </a:r>
            <a:r>
              <a:rPr lang="en-IN" b="1" dirty="0"/>
              <a:t>~$5,200</a:t>
            </a:r>
            <a:r>
              <a:rPr lang="en-IN" dirty="0"/>
              <a:t>).</a:t>
            </a:r>
          </a:p>
          <a:p>
            <a:pPr marL="285750" indent="-285750">
              <a:buFont typeface="Arial" panose="020B0604020202020204" pitchFamily="34" charset="0"/>
              <a:buChar char="•"/>
            </a:pPr>
            <a:r>
              <a:rPr lang="en-IN" b="1" dirty="0"/>
              <a:t>High-Risk Band:</a:t>
            </a:r>
            <a:r>
              <a:rPr lang="en-IN" dirty="0"/>
              <a:t> Over </a:t>
            </a:r>
            <a:r>
              <a:rPr lang="en-IN" b="1" dirty="0"/>
              <a:t>75% of leavers earn less than $6,000/month</a:t>
            </a:r>
            <a:r>
              <a:rPr lang="en-IN" dirty="0"/>
              <a:t>, with the densest concentration falling between </a:t>
            </a:r>
            <a:r>
              <a:rPr lang="en-IN" b="1" dirty="0"/>
              <a:t>$2,400 and $6,000</a:t>
            </a:r>
            <a:r>
              <a:rPr lang="en-IN" dirty="0"/>
              <a:t>.</a:t>
            </a:r>
            <a:endParaRPr lang="en-US" dirty="0"/>
          </a:p>
          <a:p>
            <a:pPr marL="285750" indent="-285750">
              <a:buFont typeface="Arial" panose="020B0604020202020204" pitchFamily="34" charset="0"/>
              <a:buChar char="•"/>
            </a:pPr>
            <a:r>
              <a:rPr lang="en-IN" b="1" dirty="0"/>
              <a:t>Executive Outliers:</a:t>
            </a:r>
            <a:r>
              <a:rPr lang="en-IN" dirty="0"/>
              <a:t> High-income leavers (outliers ranging from </a:t>
            </a:r>
            <a:r>
              <a:rPr lang="en-IN" b="1" dirty="0"/>
              <a:t>$10,000 to over $35,000</a:t>
            </a:r>
            <a:r>
              <a:rPr lang="en-IN" dirty="0"/>
              <a:t>) represent senior/executive exits, which require separate retention strategies beyond base pay</a:t>
            </a:r>
            <a:r>
              <a:rPr lang="en-US" dirty="0"/>
              <a:t>.</a:t>
            </a:r>
          </a:p>
          <a:p>
            <a:pPr marL="285750" indent="-285750">
              <a:buFont typeface="Arial" panose="020B0604020202020204" pitchFamily="34" charset="0"/>
              <a:buChar char="•"/>
            </a:pPr>
            <a:r>
              <a:rPr lang="en-IN" b="1" dirty="0"/>
              <a:t>Strategic HR Takeaway:</a:t>
            </a:r>
            <a:r>
              <a:rPr lang="en-IN" dirty="0"/>
              <a:t> Address compensation competitiveness for entry and junior-level roles while creating transparent compensation milestones to prevent early-career turnover.</a:t>
            </a:r>
            <a:endParaRPr lang="en-US" dirty="0"/>
          </a:p>
        </p:txBody>
      </p:sp>
    </p:spTree>
    <p:extLst>
      <p:ext uri="{BB962C8B-B14F-4D97-AF65-F5344CB8AC3E}">
        <p14:creationId xmlns:p14="http://schemas.microsoft.com/office/powerpoint/2010/main" val="2428766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62F888-40BB-87D2-A9F5-AEDD3997F330}"/>
              </a:ext>
            </a:extLst>
          </p:cNvPr>
          <p:cNvSpPr txBox="1"/>
          <p:nvPr/>
        </p:nvSpPr>
        <p:spPr>
          <a:xfrm>
            <a:off x="157316" y="117987"/>
            <a:ext cx="7832593" cy="584775"/>
          </a:xfrm>
          <a:prstGeom prst="rect">
            <a:avLst/>
          </a:prstGeom>
          <a:noFill/>
        </p:spPr>
        <p:txBody>
          <a:bodyPr wrap="none" rtlCol="0">
            <a:spAutoFit/>
          </a:bodyPr>
          <a:lstStyle/>
          <a:p>
            <a:r>
              <a:rPr lang="en-US" sz="3200" b="1" dirty="0">
                <a:solidFill>
                  <a:srgbClr val="FFC000"/>
                </a:solidFill>
              </a:rPr>
              <a:t>Attrition Count by TotalWorkingYears:</a:t>
            </a:r>
            <a:endParaRPr lang="en-IN" sz="3200" b="1" dirty="0">
              <a:solidFill>
                <a:srgbClr val="FFC000"/>
              </a:solidFill>
            </a:endParaRPr>
          </a:p>
        </p:txBody>
      </p:sp>
      <p:pic>
        <p:nvPicPr>
          <p:cNvPr id="4" name="Picture 3">
            <a:extLst>
              <a:ext uri="{FF2B5EF4-FFF2-40B4-BE49-F238E27FC236}">
                <a16:creationId xmlns:a16="http://schemas.microsoft.com/office/drawing/2014/main" id="{EFF7C788-0F7C-7C38-8748-8778EBA3DA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8330" y="730046"/>
            <a:ext cx="5340107" cy="3511303"/>
          </a:xfrm>
          <a:prstGeom prst="rect">
            <a:avLst/>
          </a:prstGeom>
        </p:spPr>
      </p:pic>
      <p:pic>
        <p:nvPicPr>
          <p:cNvPr id="6" name="Picture 5">
            <a:extLst>
              <a:ext uri="{FF2B5EF4-FFF2-40B4-BE49-F238E27FC236}">
                <a16:creationId xmlns:a16="http://schemas.microsoft.com/office/drawing/2014/main" id="{23DF9155-1E06-098E-5A55-C73D9FB96F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9768" y="4302538"/>
            <a:ext cx="3698669" cy="2294111"/>
          </a:xfrm>
          <a:prstGeom prst="rect">
            <a:avLst/>
          </a:prstGeom>
        </p:spPr>
      </p:pic>
      <p:sp>
        <p:nvSpPr>
          <p:cNvPr id="7" name="TextBox 6">
            <a:extLst>
              <a:ext uri="{FF2B5EF4-FFF2-40B4-BE49-F238E27FC236}">
                <a16:creationId xmlns:a16="http://schemas.microsoft.com/office/drawing/2014/main" id="{4DD4B551-8751-5EC9-1BA2-EC444F983710}"/>
              </a:ext>
            </a:extLst>
          </p:cNvPr>
          <p:cNvSpPr txBox="1"/>
          <p:nvPr/>
        </p:nvSpPr>
        <p:spPr>
          <a:xfrm>
            <a:off x="157316" y="641207"/>
            <a:ext cx="1673856" cy="523220"/>
          </a:xfrm>
          <a:prstGeom prst="rect">
            <a:avLst/>
          </a:prstGeom>
          <a:noFill/>
        </p:spPr>
        <p:txBody>
          <a:bodyPr wrap="none" rtlCol="0">
            <a:spAutoFit/>
          </a:bodyPr>
          <a:lstStyle/>
          <a:p>
            <a:r>
              <a:rPr lang="en-US" sz="2800" dirty="0">
                <a:solidFill>
                  <a:schemeClr val="accent2">
                    <a:lumMod val="75000"/>
                  </a:schemeClr>
                </a:solidFill>
              </a:rPr>
              <a:t>Findings:</a:t>
            </a:r>
            <a:endParaRPr lang="en-IN" sz="2800" dirty="0">
              <a:solidFill>
                <a:schemeClr val="accent2">
                  <a:lumMod val="75000"/>
                </a:schemeClr>
              </a:solidFill>
            </a:endParaRPr>
          </a:p>
        </p:txBody>
      </p:sp>
      <p:sp>
        <p:nvSpPr>
          <p:cNvPr id="8" name="TextBox 7">
            <a:extLst>
              <a:ext uri="{FF2B5EF4-FFF2-40B4-BE49-F238E27FC236}">
                <a16:creationId xmlns:a16="http://schemas.microsoft.com/office/drawing/2014/main" id="{197B7061-F855-14F8-268B-E2A04209653B}"/>
              </a:ext>
            </a:extLst>
          </p:cNvPr>
          <p:cNvSpPr txBox="1"/>
          <p:nvPr/>
        </p:nvSpPr>
        <p:spPr>
          <a:xfrm>
            <a:off x="157316" y="1225982"/>
            <a:ext cx="6351639" cy="3416320"/>
          </a:xfrm>
          <a:prstGeom prst="rect">
            <a:avLst/>
          </a:prstGeom>
          <a:noFill/>
        </p:spPr>
        <p:txBody>
          <a:bodyPr wrap="square" rtlCol="0">
            <a:spAutoFit/>
          </a:bodyPr>
          <a:lstStyle/>
          <a:p>
            <a:pPr marL="285750" indent="-285750">
              <a:buFont typeface="Arial" panose="020B0604020202020204" pitchFamily="34" charset="0"/>
              <a:buChar char="•"/>
            </a:pPr>
            <a:r>
              <a:rPr lang="en-US" dirty="0"/>
              <a:t>Employees who leave (Attrition:1) have significantly lower median total working year (~7years) compared to retained employees (~10years).</a:t>
            </a:r>
          </a:p>
          <a:p>
            <a:pPr marL="285750" indent="-285750">
              <a:buFont typeface="Arial" panose="020B0604020202020204" pitchFamily="34" charset="0"/>
              <a:buChar char="•"/>
            </a:pPr>
            <a:r>
              <a:rPr lang="en-IN" dirty="0"/>
              <a:t>Over 75% of leavers have less than 10 years experience, with densest concentration falling between 3 years and 10 years.</a:t>
            </a:r>
          </a:p>
          <a:p>
            <a:pPr marL="285750" indent="-285750">
              <a:buFont typeface="Arial" panose="020B0604020202020204" pitchFamily="34" charset="0"/>
              <a:buChar char="•"/>
            </a:pPr>
            <a:r>
              <a:rPr lang="en-IN" dirty="0"/>
              <a:t>20+ years experience employees (outliers ranging from 20years to over 40years) represent that seniors/executives are exits.</a:t>
            </a:r>
          </a:p>
          <a:p>
            <a:pPr marL="285750" indent="-285750">
              <a:buFont typeface="Arial" panose="020B0604020202020204" pitchFamily="34" charset="0"/>
              <a:buChar char="•"/>
            </a:pPr>
            <a:r>
              <a:rPr lang="en-IN" dirty="0"/>
              <a:t>Overall, we need to care about those leavers who have less experience and are leaving soon. </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4224905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7336BF-1869-5E3C-FFDC-D312FF770B63}"/>
              </a:ext>
            </a:extLst>
          </p:cNvPr>
          <p:cNvSpPr txBox="1"/>
          <p:nvPr/>
        </p:nvSpPr>
        <p:spPr>
          <a:xfrm>
            <a:off x="117988" y="117987"/>
            <a:ext cx="7377341" cy="584775"/>
          </a:xfrm>
          <a:prstGeom prst="rect">
            <a:avLst/>
          </a:prstGeom>
          <a:noFill/>
        </p:spPr>
        <p:txBody>
          <a:bodyPr wrap="none" rtlCol="0">
            <a:spAutoFit/>
          </a:bodyPr>
          <a:lstStyle/>
          <a:p>
            <a:r>
              <a:rPr lang="en-US" sz="3200" b="1" dirty="0">
                <a:solidFill>
                  <a:srgbClr val="FFC000"/>
                </a:solidFill>
              </a:rPr>
              <a:t>Attrition Count by YearsAtCompany</a:t>
            </a:r>
            <a:endParaRPr lang="en-IN" sz="3200" b="1" dirty="0">
              <a:solidFill>
                <a:srgbClr val="FFC000"/>
              </a:solidFill>
            </a:endParaRPr>
          </a:p>
        </p:txBody>
      </p:sp>
      <p:pic>
        <p:nvPicPr>
          <p:cNvPr id="4" name="Picture 3">
            <a:extLst>
              <a:ext uri="{FF2B5EF4-FFF2-40B4-BE49-F238E27FC236}">
                <a16:creationId xmlns:a16="http://schemas.microsoft.com/office/drawing/2014/main" id="{2C8E5A12-31E0-AF26-3783-BC56DC4E3A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1958" y="702762"/>
            <a:ext cx="7168910" cy="3511303"/>
          </a:xfrm>
          <a:prstGeom prst="rect">
            <a:avLst/>
          </a:prstGeom>
        </p:spPr>
      </p:pic>
      <p:pic>
        <p:nvPicPr>
          <p:cNvPr id="6" name="Picture 5">
            <a:extLst>
              <a:ext uri="{FF2B5EF4-FFF2-40B4-BE49-F238E27FC236}">
                <a16:creationId xmlns:a16="http://schemas.microsoft.com/office/drawing/2014/main" id="{91C089F3-F746-4797-451A-3DA78AF0AA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548" y="702762"/>
            <a:ext cx="4518850" cy="2809207"/>
          </a:xfrm>
          <a:prstGeom prst="rect">
            <a:avLst/>
          </a:prstGeom>
        </p:spPr>
      </p:pic>
      <p:sp>
        <p:nvSpPr>
          <p:cNvPr id="7" name="TextBox 6">
            <a:extLst>
              <a:ext uri="{FF2B5EF4-FFF2-40B4-BE49-F238E27FC236}">
                <a16:creationId xmlns:a16="http://schemas.microsoft.com/office/drawing/2014/main" id="{6A19E921-3F30-703B-629D-69D6CDA5F6B3}"/>
              </a:ext>
            </a:extLst>
          </p:cNvPr>
          <p:cNvSpPr txBox="1"/>
          <p:nvPr/>
        </p:nvSpPr>
        <p:spPr>
          <a:xfrm>
            <a:off x="117988" y="3674804"/>
            <a:ext cx="1885453" cy="584775"/>
          </a:xfrm>
          <a:prstGeom prst="rect">
            <a:avLst/>
          </a:prstGeom>
          <a:noFill/>
        </p:spPr>
        <p:txBody>
          <a:bodyPr wrap="none" rtlCol="0">
            <a:spAutoFit/>
          </a:bodyPr>
          <a:lstStyle/>
          <a:p>
            <a:r>
              <a:rPr lang="en-US" sz="3200" dirty="0">
                <a:solidFill>
                  <a:schemeClr val="accent2">
                    <a:lumMod val="75000"/>
                  </a:schemeClr>
                </a:solidFill>
              </a:rPr>
              <a:t>Findings:</a:t>
            </a:r>
            <a:endParaRPr lang="en-IN" sz="3200" dirty="0">
              <a:solidFill>
                <a:schemeClr val="accent2">
                  <a:lumMod val="75000"/>
                </a:schemeClr>
              </a:solidFill>
            </a:endParaRPr>
          </a:p>
        </p:txBody>
      </p:sp>
      <p:sp>
        <p:nvSpPr>
          <p:cNvPr id="9" name="TextBox 8">
            <a:extLst>
              <a:ext uri="{FF2B5EF4-FFF2-40B4-BE49-F238E27FC236}">
                <a16:creationId xmlns:a16="http://schemas.microsoft.com/office/drawing/2014/main" id="{27E8BAC8-3BE7-C8A8-57E0-03C99D8CF083}"/>
              </a:ext>
            </a:extLst>
          </p:cNvPr>
          <p:cNvSpPr txBox="1"/>
          <p:nvPr/>
        </p:nvSpPr>
        <p:spPr>
          <a:xfrm>
            <a:off x="215548" y="4312385"/>
            <a:ext cx="11785320" cy="2031325"/>
          </a:xfrm>
          <a:prstGeom prst="rect">
            <a:avLst/>
          </a:prstGeom>
          <a:noFill/>
        </p:spPr>
        <p:txBody>
          <a:bodyPr wrap="square" rtlCol="0">
            <a:spAutoFit/>
          </a:bodyPr>
          <a:lstStyle/>
          <a:p>
            <a:pPr marL="285750" indent="-285750">
              <a:buFont typeface="Arial" panose="020B0604020202020204" pitchFamily="34" charset="0"/>
              <a:buChar char="•"/>
            </a:pPr>
            <a:r>
              <a:rPr lang="en-US" dirty="0"/>
              <a:t>Employees who leave (Attrition:1) have significantly lower median years at company (~3years) compared to the retained employees (~6years).</a:t>
            </a:r>
          </a:p>
          <a:p>
            <a:pPr marL="285750" indent="-285750">
              <a:buFont typeface="Arial" panose="020B0604020202020204" pitchFamily="34" charset="0"/>
              <a:buChar char="•"/>
            </a:pPr>
            <a:r>
              <a:rPr lang="en-US" dirty="0"/>
              <a:t>Over 75% leavers who have 7 years at the company, with  the densest concentration falling between 1 year and 7 years</a:t>
            </a:r>
          </a:p>
          <a:p>
            <a:pPr marL="285750" indent="-285750">
              <a:buFont typeface="Arial" panose="020B0604020202020204" pitchFamily="34" charset="0"/>
              <a:buChar char="•"/>
            </a:pPr>
            <a:r>
              <a:rPr lang="en-US" dirty="0"/>
              <a:t>16+ years at the company (outliers ranging between 16years and 40years) represent that they might be retiring. They might be seniors/executives.</a:t>
            </a:r>
          </a:p>
          <a:p>
            <a:pPr marL="285750" indent="-285750">
              <a:buFont typeface="Arial" panose="020B0604020202020204" pitchFamily="34" charset="0"/>
              <a:buChar char="•"/>
            </a:pPr>
            <a:r>
              <a:rPr lang="en-US" dirty="0"/>
              <a:t>We need to take care about those people who have less than 7 years of experience at the company.</a:t>
            </a:r>
            <a:endParaRPr lang="en-IN" dirty="0"/>
          </a:p>
        </p:txBody>
      </p:sp>
    </p:spTree>
    <p:extLst>
      <p:ext uri="{BB962C8B-B14F-4D97-AF65-F5344CB8AC3E}">
        <p14:creationId xmlns:p14="http://schemas.microsoft.com/office/powerpoint/2010/main" val="24096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178F2-D48E-3CD9-0183-B8D13508960B}"/>
              </a:ext>
            </a:extLst>
          </p:cNvPr>
          <p:cNvSpPr txBox="1"/>
          <p:nvPr/>
        </p:nvSpPr>
        <p:spPr>
          <a:xfrm>
            <a:off x="167149" y="147484"/>
            <a:ext cx="7261924" cy="584775"/>
          </a:xfrm>
          <a:prstGeom prst="rect">
            <a:avLst/>
          </a:prstGeom>
          <a:noFill/>
        </p:spPr>
        <p:txBody>
          <a:bodyPr wrap="none" rtlCol="0">
            <a:spAutoFit/>
          </a:bodyPr>
          <a:lstStyle/>
          <a:p>
            <a:r>
              <a:rPr lang="en-US" sz="3200" b="1" dirty="0">
                <a:solidFill>
                  <a:srgbClr val="FFC000"/>
                </a:solidFill>
              </a:rPr>
              <a:t>Attrition Count by YearsAtCurrRole</a:t>
            </a:r>
            <a:endParaRPr lang="en-IN" sz="3200" b="1" dirty="0">
              <a:solidFill>
                <a:srgbClr val="FFC000"/>
              </a:solidFill>
            </a:endParaRPr>
          </a:p>
        </p:txBody>
      </p:sp>
      <p:pic>
        <p:nvPicPr>
          <p:cNvPr id="4" name="Picture 3">
            <a:extLst>
              <a:ext uri="{FF2B5EF4-FFF2-40B4-BE49-F238E27FC236}">
                <a16:creationId xmlns:a16="http://schemas.microsoft.com/office/drawing/2014/main" id="{B3578F4F-7C1A-60D1-5EEE-F0BA56CC4A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307588"/>
            <a:ext cx="5696723" cy="4242824"/>
          </a:xfrm>
          <a:prstGeom prst="rect">
            <a:avLst/>
          </a:prstGeom>
        </p:spPr>
      </p:pic>
      <p:sp>
        <p:nvSpPr>
          <p:cNvPr id="5" name="TextBox 4">
            <a:extLst>
              <a:ext uri="{FF2B5EF4-FFF2-40B4-BE49-F238E27FC236}">
                <a16:creationId xmlns:a16="http://schemas.microsoft.com/office/drawing/2014/main" id="{C4724885-C3DA-9A21-F1F4-8B6D32F9CFB2}"/>
              </a:ext>
            </a:extLst>
          </p:cNvPr>
          <p:cNvSpPr txBox="1"/>
          <p:nvPr/>
        </p:nvSpPr>
        <p:spPr>
          <a:xfrm>
            <a:off x="167149" y="784368"/>
            <a:ext cx="1673856" cy="523220"/>
          </a:xfrm>
          <a:prstGeom prst="rect">
            <a:avLst/>
          </a:prstGeom>
          <a:noFill/>
        </p:spPr>
        <p:txBody>
          <a:bodyPr wrap="none" rtlCol="0">
            <a:spAutoFit/>
          </a:bodyPr>
          <a:lstStyle/>
          <a:p>
            <a:r>
              <a:rPr lang="en-US" sz="2800" dirty="0">
                <a:solidFill>
                  <a:schemeClr val="accent2">
                    <a:lumMod val="75000"/>
                  </a:schemeClr>
                </a:solidFill>
              </a:rPr>
              <a:t>Findings:</a:t>
            </a:r>
            <a:endParaRPr lang="en-IN" sz="2800" dirty="0">
              <a:solidFill>
                <a:schemeClr val="accent2">
                  <a:lumMod val="75000"/>
                </a:schemeClr>
              </a:solidFill>
            </a:endParaRPr>
          </a:p>
        </p:txBody>
      </p:sp>
      <p:sp>
        <p:nvSpPr>
          <p:cNvPr id="6" name="TextBox 5">
            <a:extLst>
              <a:ext uri="{FF2B5EF4-FFF2-40B4-BE49-F238E27FC236}">
                <a16:creationId xmlns:a16="http://schemas.microsoft.com/office/drawing/2014/main" id="{274648CF-820D-5C60-21CD-A859E53E1AEB}"/>
              </a:ext>
            </a:extLst>
          </p:cNvPr>
          <p:cNvSpPr txBox="1"/>
          <p:nvPr/>
        </p:nvSpPr>
        <p:spPr>
          <a:xfrm>
            <a:off x="214546" y="1307588"/>
            <a:ext cx="5792964" cy="3416320"/>
          </a:xfrm>
          <a:prstGeom prst="rect">
            <a:avLst/>
          </a:prstGeom>
          <a:noFill/>
        </p:spPr>
        <p:txBody>
          <a:bodyPr wrap="square" rtlCol="0">
            <a:spAutoFit/>
          </a:bodyPr>
          <a:lstStyle/>
          <a:p>
            <a:pPr marL="285750" indent="-285750">
              <a:buFont typeface="Arial" panose="020B0604020202020204" pitchFamily="34" charset="0"/>
              <a:buChar char="•"/>
            </a:pPr>
            <a:r>
              <a:rPr lang="en-US" dirty="0"/>
              <a:t>Employees who leave (Attrition:1) have significantly lower median years in current role (~2years) compared to retained employees (~3years).</a:t>
            </a:r>
          </a:p>
          <a:p>
            <a:pPr marL="285750" indent="-285750">
              <a:buFont typeface="Arial" panose="020B0604020202020204" pitchFamily="34" charset="0"/>
              <a:buChar char="•"/>
            </a:pPr>
            <a:r>
              <a:rPr lang="en-US" dirty="0"/>
              <a:t>Over 75% leavers who have 4 years in current role, with the densest concentration falling between 1 year and 4 years.</a:t>
            </a:r>
          </a:p>
          <a:p>
            <a:pPr marL="285750" indent="-285750">
              <a:buFont typeface="Arial" panose="020B0604020202020204" pitchFamily="34" charset="0"/>
              <a:buChar char="•"/>
            </a:pPr>
            <a:r>
              <a:rPr lang="en-IN" dirty="0"/>
              <a:t>In conclusion, we need to focus on our HR strategies and provide more opportunities and learning things to our employees who are in current role so that they can improve themselves and get better roles.</a:t>
            </a:r>
            <a:endParaRPr lang="en-US" dirty="0"/>
          </a:p>
        </p:txBody>
      </p:sp>
    </p:spTree>
    <p:extLst>
      <p:ext uri="{BB962C8B-B14F-4D97-AF65-F5344CB8AC3E}">
        <p14:creationId xmlns:p14="http://schemas.microsoft.com/office/powerpoint/2010/main" val="2414587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DE1E93-136A-0644-D57D-F9C16C02C7ED}"/>
              </a:ext>
            </a:extLst>
          </p:cNvPr>
          <p:cNvSpPr txBox="1"/>
          <p:nvPr/>
        </p:nvSpPr>
        <p:spPr>
          <a:xfrm>
            <a:off x="68826" y="98323"/>
            <a:ext cx="7848623" cy="584775"/>
          </a:xfrm>
          <a:prstGeom prst="rect">
            <a:avLst/>
          </a:prstGeom>
          <a:noFill/>
        </p:spPr>
        <p:txBody>
          <a:bodyPr wrap="none" rtlCol="0">
            <a:spAutoFit/>
          </a:bodyPr>
          <a:lstStyle/>
          <a:p>
            <a:r>
              <a:rPr lang="en-US" sz="3200" b="1" dirty="0">
                <a:solidFill>
                  <a:srgbClr val="FFC000"/>
                </a:solidFill>
              </a:rPr>
              <a:t>Attrition Count by DistanceFromHome</a:t>
            </a:r>
            <a:endParaRPr lang="en-IN" sz="3200" b="1" dirty="0">
              <a:solidFill>
                <a:srgbClr val="FFC000"/>
              </a:solidFill>
            </a:endParaRPr>
          </a:p>
        </p:txBody>
      </p:sp>
      <p:pic>
        <p:nvPicPr>
          <p:cNvPr id="4" name="Picture 3">
            <a:extLst>
              <a:ext uri="{FF2B5EF4-FFF2-40B4-BE49-F238E27FC236}">
                <a16:creationId xmlns:a16="http://schemas.microsoft.com/office/drawing/2014/main" id="{AB2DE914-349B-9BC5-705B-A3F9D1ED2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2095" y="788444"/>
            <a:ext cx="5312675" cy="3511303"/>
          </a:xfrm>
          <a:prstGeom prst="rect">
            <a:avLst/>
          </a:prstGeom>
        </p:spPr>
      </p:pic>
      <p:pic>
        <p:nvPicPr>
          <p:cNvPr id="6" name="Picture 5">
            <a:extLst>
              <a:ext uri="{FF2B5EF4-FFF2-40B4-BE49-F238E27FC236}">
                <a16:creationId xmlns:a16="http://schemas.microsoft.com/office/drawing/2014/main" id="{1F3ED614-ED43-DB08-F04B-0481D8E04D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33" y="788445"/>
            <a:ext cx="5648232" cy="3511303"/>
          </a:xfrm>
          <a:prstGeom prst="rect">
            <a:avLst/>
          </a:prstGeom>
        </p:spPr>
      </p:pic>
      <p:sp>
        <p:nvSpPr>
          <p:cNvPr id="7" name="TextBox 6">
            <a:extLst>
              <a:ext uri="{FF2B5EF4-FFF2-40B4-BE49-F238E27FC236}">
                <a16:creationId xmlns:a16="http://schemas.microsoft.com/office/drawing/2014/main" id="{4C628142-058E-56B6-0EEC-67FA1D0C0350}"/>
              </a:ext>
            </a:extLst>
          </p:cNvPr>
          <p:cNvSpPr txBox="1"/>
          <p:nvPr/>
        </p:nvSpPr>
        <p:spPr>
          <a:xfrm>
            <a:off x="68826" y="4405095"/>
            <a:ext cx="1673856" cy="523220"/>
          </a:xfrm>
          <a:prstGeom prst="rect">
            <a:avLst/>
          </a:prstGeom>
          <a:noFill/>
        </p:spPr>
        <p:txBody>
          <a:bodyPr wrap="none" rtlCol="0">
            <a:spAutoFit/>
          </a:bodyPr>
          <a:lstStyle/>
          <a:p>
            <a:r>
              <a:rPr lang="en-US" sz="2800" dirty="0">
                <a:solidFill>
                  <a:schemeClr val="accent2">
                    <a:lumMod val="75000"/>
                  </a:schemeClr>
                </a:solidFill>
              </a:rPr>
              <a:t>Findings:</a:t>
            </a:r>
            <a:endParaRPr lang="en-IN" sz="2800" dirty="0">
              <a:solidFill>
                <a:schemeClr val="accent2">
                  <a:lumMod val="75000"/>
                </a:schemeClr>
              </a:solidFill>
            </a:endParaRPr>
          </a:p>
        </p:txBody>
      </p:sp>
      <p:sp>
        <p:nvSpPr>
          <p:cNvPr id="8" name="TextBox 7">
            <a:extLst>
              <a:ext uri="{FF2B5EF4-FFF2-40B4-BE49-F238E27FC236}">
                <a16:creationId xmlns:a16="http://schemas.microsoft.com/office/drawing/2014/main" id="{12F76020-A921-239E-23BE-097B4CF3AA4B}"/>
              </a:ext>
            </a:extLst>
          </p:cNvPr>
          <p:cNvSpPr txBox="1"/>
          <p:nvPr/>
        </p:nvSpPr>
        <p:spPr>
          <a:xfrm>
            <a:off x="68826" y="4928315"/>
            <a:ext cx="11635944" cy="1477328"/>
          </a:xfrm>
          <a:prstGeom prst="rect">
            <a:avLst/>
          </a:prstGeom>
          <a:noFill/>
        </p:spPr>
        <p:txBody>
          <a:bodyPr wrap="square" rtlCol="0">
            <a:spAutoFit/>
          </a:bodyPr>
          <a:lstStyle/>
          <a:p>
            <a:pPr marL="285750" indent="-285750">
              <a:buFont typeface="Arial" panose="020B0604020202020204" pitchFamily="34" charset="0"/>
              <a:buChar char="•"/>
            </a:pPr>
            <a:r>
              <a:rPr lang="en-US" dirty="0"/>
              <a:t>Employees who leave have significantly higher commute distance (~11-15miles) almost 21.19%.</a:t>
            </a:r>
          </a:p>
          <a:p>
            <a:pPr marL="285750" indent="-285750">
              <a:buFont typeface="Arial" panose="020B0604020202020204" pitchFamily="34" charset="0"/>
              <a:buChar char="•"/>
            </a:pPr>
            <a:r>
              <a:rPr lang="en-US" dirty="0"/>
              <a:t>Over 75% employees are coming from 30miles distance as per the given data. In which we have higher attrition rate almost (20-22%) leavers who coming from 11miles to 16+ miles distance.</a:t>
            </a:r>
          </a:p>
          <a:p>
            <a:pPr marL="285750" indent="-285750">
              <a:buFont typeface="Arial" panose="020B0604020202020204" pitchFamily="34" charset="0"/>
              <a:buChar char="•"/>
            </a:pPr>
            <a:r>
              <a:rPr lang="en-US" dirty="0"/>
              <a:t>We need to focus on those employees who are coming from too far. </a:t>
            </a:r>
          </a:p>
          <a:p>
            <a:pPr marL="285750" indent="-285750">
              <a:buFont typeface="Arial" panose="020B0604020202020204" pitchFamily="34" charset="0"/>
              <a:buChar char="•"/>
            </a:pPr>
            <a:r>
              <a:rPr lang="en-US" dirty="0"/>
              <a:t>We can provide work from home or cab facilities for the employees to make worklifebalance.</a:t>
            </a:r>
            <a:endParaRPr lang="en-IN" dirty="0"/>
          </a:p>
        </p:txBody>
      </p:sp>
    </p:spTree>
    <p:extLst>
      <p:ext uri="{BB962C8B-B14F-4D97-AF65-F5344CB8AC3E}">
        <p14:creationId xmlns:p14="http://schemas.microsoft.com/office/powerpoint/2010/main" val="406948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2ED1-12BA-C4ED-5171-3DEF8F292CCC}"/>
              </a:ext>
            </a:extLst>
          </p:cNvPr>
          <p:cNvSpPr>
            <a:spLocks noGrp="1"/>
          </p:cNvSpPr>
          <p:nvPr>
            <p:ph type="title"/>
          </p:nvPr>
        </p:nvSpPr>
        <p:spPr/>
        <p:txBody>
          <a:bodyPr/>
          <a:lstStyle/>
          <a:p>
            <a:r>
              <a:rPr lang="en-US" dirty="0"/>
              <a:t>Kalpit Kishore</a:t>
            </a:r>
            <a:endParaRPr lang="en-IN" dirty="0"/>
          </a:p>
        </p:txBody>
      </p:sp>
      <p:sp>
        <p:nvSpPr>
          <p:cNvPr id="3" name="Content Placeholder 2">
            <a:extLst>
              <a:ext uri="{FF2B5EF4-FFF2-40B4-BE49-F238E27FC236}">
                <a16:creationId xmlns:a16="http://schemas.microsoft.com/office/drawing/2014/main" id="{DC4356AB-469E-86F7-8983-CE9EA721336D}"/>
              </a:ext>
            </a:extLst>
          </p:cNvPr>
          <p:cNvSpPr>
            <a:spLocks noGrp="1"/>
          </p:cNvSpPr>
          <p:nvPr>
            <p:ph sz="quarter" idx="13"/>
          </p:nvPr>
        </p:nvSpPr>
        <p:spPr/>
        <p:txBody>
          <a:bodyPr/>
          <a:lstStyle/>
          <a:p>
            <a:pPr algn="ctr"/>
            <a:r>
              <a:rPr lang="en-US" dirty="0"/>
              <a:t>Thank You</a:t>
            </a:r>
            <a:endParaRPr lang="en-IN" dirty="0"/>
          </a:p>
        </p:txBody>
      </p:sp>
    </p:spTree>
    <p:extLst>
      <p:ext uri="{BB962C8B-B14F-4D97-AF65-F5344CB8AC3E}">
        <p14:creationId xmlns:p14="http://schemas.microsoft.com/office/powerpoint/2010/main" val="464400165"/>
      </p:ext>
    </p:extLst>
  </p:cSld>
  <p:clrMapOvr>
    <a:masterClrMapping/>
  </p:clrMapOvr>
</p:sld>
</file>

<file path=ppt/theme/theme1.xml><?xml version="1.0" encoding="utf-8"?>
<a:theme xmlns:a="http://schemas.openxmlformats.org/drawingml/2006/main" name="Film Bur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docProps/app.xml><?xml version="1.0" encoding="utf-8"?>
<Properties xmlns="http://schemas.openxmlformats.org/officeDocument/2006/extended-properties" xmlns:vt="http://schemas.openxmlformats.org/officeDocument/2006/docPropsVTypes">
  <Template>Film Burn</Template>
  <TotalTime>393</TotalTime>
  <Words>1389</Words>
  <Application>Microsoft Office PowerPoint</Application>
  <PresentationFormat>Widescreen</PresentationFormat>
  <Paragraphs>90</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Neue Haas Grotesk Text Pro</vt:lpstr>
      <vt:lpstr>Film Burn</vt:lpstr>
      <vt:lpstr>IBM HR Analytics💼 Employee Attrition &amp; Performance</vt:lpstr>
      <vt:lpstr>Business Understanding &amp; Overview</vt:lpstr>
      <vt:lpstr>Kalpit Kishore</vt:lpstr>
      <vt:lpstr>PowerPoint Presentation</vt:lpstr>
      <vt:lpstr>PowerPoint Presentation</vt:lpstr>
      <vt:lpstr>Kalpit Kishore</vt:lpstr>
      <vt:lpstr>PowerPoint Presentation</vt:lpstr>
      <vt:lpstr>PowerPoint Presentation</vt:lpstr>
      <vt:lpstr>PowerPoint Presentation</vt:lpstr>
      <vt:lpstr>PowerPoint Presentation</vt:lpstr>
      <vt:lpstr>PowerPoint Presentation</vt:lpstr>
      <vt:lpstr>PowerPoint Presentation</vt:lpstr>
      <vt:lpstr>Kalpit Kishore</vt:lpstr>
      <vt:lpstr>PowerPoint Presentation</vt:lpstr>
      <vt:lpstr>PowerPoint Presentation</vt:lpstr>
      <vt:lpstr>PowerPoint Presentation</vt:lpstr>
      <vt:lpstr>PowerPoint Presentation</vt:lpstr>
      <vt:lpstr>PowerPoint Presentation</vt:lpstr>
      <vt:lpstr>PowerPoint Presentation</vt:lpstr>
      <vt:lpstr>Kalpit Kishore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Kalpit Kishore</dc:creator>
  <cp:lastModifiedBy>Kalpit Kishore</cp:lastModifiedBy>
  <cp:revision>4</cp:revision>
  <dcterms:created xsi:type="dcterms:W3CDTF">2026-10-22T06:50:28Z</dcterms:created>
  <dcterms:modified xsi:type="dcterms:W3CDTF">2026-10-26T08:54:14Z</dcterms:modified>
</cp:coreProperties>
</file>